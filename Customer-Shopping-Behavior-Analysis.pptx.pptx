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7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Libre Baskerville" charset="1" panose="02000000000000000000"/>
      <p:regular r:id="rId20"/>
    </p:embeddedFont>
    <p:embeddedFont>
      <p:font typeface="DM Sans" charset="1" panose="00000000000000000000"/>
      <p:regular r:id="rId21"/>
    </p:embeddedFont>
    <p:embeddedFont>
      <p:font typeface="Canva Sans Bold" charset="1" panose="020B0803030501040103"/>
      <p:regular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notesMasters/notesMaster1.xml" Type="http://schemas.openxmlformats.org/officeDocument/2006/relationships/notesMaster"/><Relationship Id="rId18" Target="theme/theme2.xml" Type="http://schemas.openxmlformats.org/officeDocument/2006/relationships/theme"/><Relationship Id="rId19" Target="notesSlides/notesSlide1.xml" Type="http://schemas.openxmlformats.org/officeDocument/2006/relationships/notes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notesSlides/notesSlide2.xml" Type="http://schemas.openxmlformats.org/officeDocument/2006/relationships/notesSlide"/><Relationship Id="rId23" Target="notesSlides/notesSlide3.xml" Type="http://schemas.openxmlformats.org/officeDocument/2006/relationships/notesSlide"/><Relationship Id="rId24" Target="notesSlides/notesSlide4.xml" Type="http://schemas.openxmlformats.org/officeDocument/2006/relationships/notesSlide"/><Relationship Id="rId25" Target="notesSlides/notesSlide5.xml" Type="http://schemas.openxmlformats.org/officeDocument/2006/relationships/notesSlide"/><Relationship Id="rId26" Target="notesSlides/notesSlide6.xml" Type="http://schemas.openxmlformats.org/officeDocument/2006/relationships/notesSlide"/><Relationship Id="rId27" Target="notesSlides/notesSlide7.xml" Type="http://schemas.openxmlformats.org/officeDocument/2006/relationships/notesSlide"/><Relationship Id="rId28" Target="notesSlides/notesSlide8.xml" Type="http://schemas.openxmlformats.org/officeDocument/2006/relationships/notesSlide"/><Relationship Id="rId29" Target="notesSlides/notesSlide9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10.xml" Type="http://schemas.openxmlformats.org/officeDocument/2006/relationships/notesSlide"/><Relationship Id="rId31" Target="fonts/font31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pn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png" Type="http://schemas.openxmlformats.org/officeDocument/2006/relationships/image"/><Relationship Id="rId4" Target="../media/image1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png" Type="http://schemas.openxmlformats.org/officeDocument/2006/relationships/image"/><Relationship Id="rId4" Target="../media/image12.png" Type="http://schemas.openxmlformats.org/officeDocument/2006/relationships/image"/><Relationship Id="rId5" Target="../media/image13.png" Type="http://schemas.openxmlformats.org/officeDocument/2006/relationships/image"/><Relationship Id="rId6" Target="../media/image1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png" Type="http://schemas.openxmlformats.org/officeDocument/2006/relationships/image"/><Relationship Id="rId4" Target="https://gamma.app/?utm_source=made-with-gamma" TargetMode="External" Type="http://schemas.openxmlformats.org/officeDocument/2006/relationships/hyperlink"/><Relationship Id="rId5" Target="../media/image15.png" Type="http://schemas.openxmlformats.org/officeDocument/2006/relationships/image"/><Relationship Id="rId6" Target="../media/image1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png" Type="http://schemas.openxmlformats.org/officeDocument/2006/relationships/image"/><Relationship Id="rId4" Target="../media/image17.png" Type="http://schemas.openxmlformats.org/officeDocument/2006/relationships/image"/><Relationship Id="rId5" Target="../media/image18.png" Type="http://schemas.openxmlformats.org/officeDocument/2006/relationships/image"/><Relationship Id="rId6" Target="../media/image1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png" Type="http://schemas.openxmlformats.org/officeDocument/2006/relationships/image"/><Relationship Id="rId4" Target="../media/image20.png" Type="http://schemas.openxmlformats.org/officeDocument/2006/relationships/image"/><Relationship Id="rId5" Target="../media/image21.png" Type="http://schemas.openxmlformats.org/officeDocument/2006/relationships/image"/><Relationship Id="rId6" Target="../media/image2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png" Type="http://schemas.openxmlformats.org/officeDocument/2006/relationships/image"/><Relationship Id="rId4" Target="../media/image23.png" Type="http://schemas.openxmlformats.org/officeDocument/2006/relationships/image"/><Relationship Id="rId5" Target="../media/image24.png" Type="http://schemas.openxmlformats.org/officeDocument/2006/relationships/image"/><Relationship Id="rId6" Target="../media/image25.png" Type="http://schemas.openxmlformats.org/officeDocument/2006/relationships/image"/><Relationship Id="rId7" Target="../media/image26.png" Type="http://schemas.openxmlformats.org/officeDocument/2006/relationships/image"/><Relationship Id="rId8" Target="../media/image27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DFA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0" y="0"/>
            <a:ext cx="6858000" cy="10287000"/>
            <a:chOff x="0" y="0"/>
            <a:chExt cx="91440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7850237" y="3562647"/>
            <a:ext cx="9445526" cy="1800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Customer Shopping Behavior Analysis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850237" y="5693122"/>
            <a:ext cx="9445526" cy="1002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Uncovering insights from 3,900 purchases to guide strategic business decisions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DFA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664676" y="6105525"/>
            <a:ext cx="3853392" cy="3152775"/>
          </a:xfrm>
          <a:custGeom>
            <a:avLst/>
            <a:gdLst/>
            <a:ahLst/>
            <a:cxnLst/>
            <a:rect r="r" b="b" t="t" l="l"/>
            <a:pathLst>
              <a:path h="3152775" w="3853392">
                <a:moveTo>
                  <a:pt x="0" y="0"/>
                </a:moveTo>
                <a:lnTo>
                  <a:pt x="3853392" y="0"/>
                </a:lnTo>
                <a:lnTo>
                  <a:pt x="3853392" y="3152775"/>
                </a:lnTo>
                <a:lnTo>
                  <a:pt x="0" y="31527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198422" y="6370439"/>
            <a:ext cx="3569564" cy="2855651"/>
          </a:xfrm>
          <a:custGeom>
            <a:avLst/>
            <a:gdLst/>
            <a:ahLst/>
            <a:cxnLst/>
            <a:rect r="r" b="b" t="t" l="l"/>
            <a:pathLst>
              <a:path h="2855651" w="3569564">
                <a:moveTo>
                  <a:pt x="0" y="0"/>
                </a:moveTo>
                <a:lnTo>
                  <a:pt x="3569564" y="0"/>
                </a:lnTo>
                <a:lnTo>
                  <a:pt x="3569564" y="2855651"/>
                </a:lnTo>
                <a:lnTo>
                  <a:pt x="0" y="285565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2866247" y="6270609"/>
            <a:ext cx="3587838" cy="2987691"/>
          </a:xfrm>
          <a:custGeom>
            <a:avLst/>
            <a:gdLst/>
            <a:ahLst/>
            <a:cxnLst/>
            <a:rect r="r" b="b" t="t" l="l"/>
            <a:pathLst>
              <a:path h="2987691" w="3587838">
                <a:moveTo>
                  <a:pt x="0" y="0"/>
                </a:moveTo>
                <a:lnTo>
                  <a:pt x="3587838" y="0"/>
                </a:lnTo>
                <a:lnTo>
                  <a:pt x="3587838" y="2987691"/>
                </a:lnTo>
                <a:lnTo>
                  <a:pt x="0" y="298769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1000125"/>
            <a:ext cx="7088237" cy="914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Dataset Overview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2936644"/>
            <a:ext cx="5198269" cy="802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12"/>
              </a:lnSpc>
            </a:pPr>
            <a:r>
              <a:rPr lang="en-US" sz="7312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3,900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819350" y="4231767"/>
            <a:ext cx="3544044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37"/>
              </a:lnSpc>
            </a:pPr>
            <a:r>
              <a:rPr lang="en-US" sz="2750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Total Purchases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4821436"/>
            <a:ext cx="5198269" cy="548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2"/>
              </a:lnSpc>
            </a:pP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Comprehensive transaction data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481915" y="2936644"/>
            <a:ext cx="977057" cy="976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12"/>
              </a:lnSpc>
            </a:pPr>
            <a:r>
              <a:rPr lang="en-US" sz="7312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18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198422" y="4231767"/>
            <a:ext cx="3544044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37"/>
              </a:lnSpc>
            </a:pPr>
            <a:r>
              <a:rPr lang="en-US" sz="2750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Data Columns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552112" y="4821436"/>
            <a:ext cx="5198269" cy="548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2"/>
              </a:lnSpc>
            </a:pP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Customer demographics &amp; behavior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750381" y="2936644"/>
            <a:ext cx="5198269" cy="802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12"/>
              </a:lnSpc>
            </a:pPr>
            <a:r>
              <a:rPr lang="en-US" sz="7312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37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577494" y="4231767"/>
            <a:ext cx="3544044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37"/>
              </a:lnSpc>
            </a:pPr>
            <a:r>
              <a:rPr lang="en-US" sz="2750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Missing Values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061031" y="4821436"/>
            <a:ext cx="5198269" cy="548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2"/>
              </a:lnSpc>
            </a:pP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Only in Review Rating column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DFA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2078980"/>
            <a:ext cx="9073158" cy="914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Data Preparation Process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3474839"/>
            <a:ext cx="283518" cy="440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01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92238" y="4004370"/>
            <a:ext cx="5245447" cy="38100"/>
            <a:chOff x="0" y="0"/>
            <a:chExt cx="6993930" cy="50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993890" cy="50800"/>
            </a:xfrm>
            <a:custGeom>
              <a:avLst/>
              <a:gdLst/>
              <a:ahLst/>
              <a:cxnLst/>
              <a:rect r="r" b="b" t="t" l="l"/>
              <a:pathLst>
                <a:path h="50800" w="6993890">
                  <a:moveTo>
                    <a:pt x="0" y="0"/>
                  </a:moveTo>
                  <a:lnTo>
                    <a:pt x="6993890" y="0"/>
                  </a:lnTo>
                  <a:lnTo>
                    <a:pt x="699389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B88E23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992238" y="4203204"/>
            <a:ext cx="3544044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Data Loading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238" y="4740028"/>
            <a:ext cx="5245447" cy="548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Imported dataset using pandas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521202" y="3474839"/>
            <a:ext cx="283518" cy="440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02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6521202" y="4004370"/>
            <a:ext cx="5245447" cy="38100"/>
            <a:chOff x="0" y="0"/>
            <a:chExt cx="6993930" cy="50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993890" cy="50800"/>
            </a:xfrm>
            <a:custGeom>
              <a:avLst/>
              <a:gdLst/>
              <a:ahLst/>
              <a:cxnLst/>
              <a:rect r="r" b="b" t="t" l="l"/>
              <a:pathLst>
                <a:path h="50800" w="6993890">
                  <a:moveTo>
                    <a:pt x="0" y="0"/>
                  </a:moveTo>
                  <a:lnTo>
                    <a:pt x="6993890" y="0"/>
                  </a:lnTo>
                  <a:lnTo>
                    <a:pt x="699389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B88E23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6521202" y="4203204"/>
            <a:ext cx="3544044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Initial Exploration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521202" y="4740028"/>
            <a:ext cx="5245447" cy="548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Structure check and summary statistics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050166" y="3474839"/>
            <a:ext cx="283518" cy="440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03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2050166" y="4004370"/>
            <a:ext cx="5245447" cy="38100"/>
            <a:chOff x="0" y="0"/>
            <a:chExt cx="6993930" cy="50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993890" cy="50800"/>
            </a:xfrm>
            <a:custGeom>
              <a:avLst/>
              <a:gdLst/>
              <a:ahLst/>
              <a:cxnLst/>
              <a:rect r="r" b="b" t="t" l="l"/>
              <a:pathLst>
                <a:path h="50800" w="6993890">
                  <a:moveTo>
                    <a:pt x="0" y="0"/>
                  </a:moveTo>
                  <a:lnTo>
                    <a:pt x="6993890" y="0"/>
                  </a:lnTo>
                  <a:lnTo>
                    <a:pt x="699389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B88E23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20" id="20"/>
          <p:cNvSpPr txBox="true"/>
          <p:nvPr/>
        </p:nvSpPr>
        <p:spPr>
          <a:xfrm rot="0">
            <a:off x="12050166" y="4203204"/>
            <a:ext cx="4137272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Missing Data Handling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050166" y="4740028"/>
            <a:ext cx="5245447" cy="1002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Imputed Review Rating with median values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92238" y="6152852"/>
            <a:ext cx="283518" cy="440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04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992238" y="6682382"/>
            <a:ext cx="8009930" cy="38100"/>
            <a:chOff x="0" y="0"/>
            <a:chExt cx="10679907" cy="50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679938" cy="50800"/>
            </a:xfrm>
            <a:custGeom>
              <a:avLst/>
              <a:gdLst/>
              <a:ahLst/>
              <a:cxnLst/>
              <a:rect r="r" b="b" t="t" l="l"/>
              <a:pathLst>
                <a:path h="50800" w="10679938">
                  <a:moveTo>
                    <a:pt x="0" y="0"/>
                  </a:moveTo>
                  <a:lnTo>
                    <a:pt x="10679938" y="0"/>
                  </a:lnTo>
                  <a:lnTo>
                    <a:pt x="10679938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B88E23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25" id="25"/>
          <p:cNvSpPr txBox="true"/>
          <p:nvPr/>
        </p:nvSpPr>
        <p:spPr>
          <a:xfrm rot="0">
            <a:off x="992238" y="6881217"/>
            <a:ext cx="3693021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Feature Engineering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92238" y="7418040"/>
            <a:ext cx="8009930" cy="548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Created age groups and purchase frequency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285685" y="6152852"/>
            <a:ext cx="283518" cy="440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05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9285685" y="6682382"/>
            <a:ext cx="8009930" cy="38100"/>
            <a:chOff x="0" y="0"/>
            <a:chExt cx="10679907" cy="50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679938" cy="50800"/>
            </a:xfrm>
            <a:custGeom>
              <a:avLst/>
              <a:gdLst/>
              <a:ahLst/>
              <a:cxnLst/>
              <a:rect r="r" b="b" t="t" l="l"/>
              <a:pathLst>
                <a:path h="50800" w="10679938">
                  <a:moveTo>
                    <a:pt x="0" y="0"/>
                  </a:moveTo>
                  <a:lnTo>
                    <a:pt x="10679938" y="0"/>
                  </a:lnTo>
                  <a:lnTo>
                    <a:pt x="10679938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B88E23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30" id="30"/>
          <p:cNvSpPr txBox="true"/>
          <p:nvPr/>
        </p:nvSpPr>
        <p:spPr>
          <a:xfrm rot="0">
            <a:off x="9285685" y="6881217"/>
            <a:ext cx="3766096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Database Integration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285685" y="7418040"/>
            <a:ext cx="8009930" cy="548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Connected to PostgreSQL for analysis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DFA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1478905"/>
            <a:ext cx="10303371" cy="914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Revenue by Gender Analysis</a:t>
            </a:r>
          </a:p>
        </p:txBody>
      </p: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992238" y="3137595"/>
            <a:ext cx="9505355" cy="5001369"/>
            <a:chOff x="0" y="0"/>
            <a:chExt cx="12673807" cy="6668492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12673838" cy="6668516"/>
            </a:xfrm>
            <a:custGeom>
              <a:avLst/>
              <a:gdLst/>
              <a:ahLst/>
              <a:cxnLst/>
              <a:rect r="r" b="b" t="t" l="l"/>
              <a:pathLst>
                <a:path h="6668516" w="12673838">
                  <a:moveTo>
                    <a:pt x="0" y="0"/>
                  </a:moveTo>
                  <a:lnTo>
                    <a:pt x="12673838" y="0"/>
                  </a:lnTo>
                  <a:lnTo>
                    <a:pt x="12673838" y="6668516"/>
                  </a:lnTo>
                  <a:lnTo>
                    <a:pt x="0" y="66685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0" t="0" r="-1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4673204" y="8177064"/>
            <a:ext cx="283518" cy="283518"/>
            <a:chOff x="0" y="0"/>
            <a:chExt cx="378023" cy="37802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78079" cy="378079"/>
            </a:xfrm>
            <a:custGeom>
              <a:avLst/>
              <a:gdLst/>
              <a:ahLst/>
              <a:cxnLst/>
              <a:rect r="r" b="b" t="t" l="l"/>
              <a:pathLst>
                <a:path h="378079" w="378079">
                  <a:moveTo>
                    <a:pt x="0" y="30480"/>
                  </a:moveTo>
                  <a:cubicBezTo>
                    <a:pt x="0" y="13589"/>
                    <a:pt x="13589" y="0"/>
                    <a:pt x="30480" y="0"/>
                  </a:cubicBezTo>
                  <a:lnTo>
                    <a:pt x="347599" y="0"/>
                  </a:lnTo>
                  <a:cubicBezTo>
                    <a:pt x="364490" y="0"/>
                    <a:pt x="378079" y="13589"/>
                    <a:pt x="378079" y="30480"/>
                  </a:cubicBezTo>
                  <a:lnTo>
                    <a:pt x="378079" y="347599"/>
                  </a:lnTo>
                  <a:cubicBezTo>
                    <a:pt x="378079" y="364490"/>
                    <a:pt x="364490" y="378079"/>
                    <a:pt x="347599" y="378079"/>
                  </a:cubicBezTo>
                  <a:lnTo>
                    <a:pt x="30480" y="378079"/>
                  </a:lnTo>
                  <a:cubicBezTo>
                    <a:pt x="13589" y="378079"/>
                    <a:pt x="0" y="364490"/>
                    <a:pt x="0" y="347599"/>
                  </a:cubicBezTo>
                  <a:close/>
                </a:path>
              </a:pathLst>
            </a:custGeom>
            <a:solidFill>
              <a:srgbClr val="40320C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5032921" y="8215164"/>
            <a:ext cx="616744" cy="2454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7"/>
              </a:lnSpc>
            </a:pP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Male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5840165" y="8177064"/>
            <a:ext cx="283518" cy="283518"/>
            <a:chOff x="0" y="0"/>
            <a:chExt cx="378023" cy="37802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78079" cy="378079"/>
            </a:xfrm>
            <a:custGeom>
              <a:avLst/>
              <a:gdLst/>
              <a:ahLst/>
              <a:cxnLst/>
              <a:rect r="r" b="b" t="t" l="l"/>
              <a:pathLst>
                <a:path h="378079" w="378079">
                  <a:moveTo>
                    <a:pt x="0" y="30480"/>
                  </a:moveTo>
                  <a:cubicBezTo>
                    <a:pt x="0" y="13589"/>
                    <a:pt x="13589" y="0"/>
                    <a:pt x="30480" y="0"/>
                  </a:cubicBezTo>
                  <a:lnTo>
                    <a:pt x="347599" y="0"/>
                  </a:lnTo>
                  <a:cubicBezTo>
                    <a:pt x="364490" y="0"/>
                    <a:pt x="378079" y="13589"/>
                    <a:pt x="378079" y="30480"/>
                  </a:cubicBezTo>
                  <a:lnTo>
                    <a:pt x="378079" y="347599"/>
                  </a:lnTo>
                  <a:cubicBezTo>
                    <a:pt x="378079" y="364490"/>
                    <a:pt x="364490" y="378079"/>
                    <a:pt x="347599" y="378079"/>
                  </a:cubicBezTo>
                  <a:lnTo>
                    <a:pt x="30480" y="378079"/>
                  </a:lnTo>
                  <a:cubicBezTo>
                    <a:pt x="13589" y="378079"/>
                    <a:pt x="0" y="364490"/>
                    <a:pt x="0" y="347599"/>
                  </a:cubicBezTo>
                  <a:close/>
                </a:path>
              </a:pathLst>
            </a:custGeom>
            <a:solidFill>
              <a:srgbClr val="CC9D27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6199882" y="8215164"/>
            <a:ext cx="937469" cy="2454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7"/>
              </a:lnSpc>
            </a:pP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Female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198870" y="3083124"/>
            <a:ext cx="3544044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Key Insight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198870" y="3733354"/>
            <a:ext cx="6106269" cy="1002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Female customers generate slightly higher total revenue than male customers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1198870" y="5054799"/>
            <a:ext cx="6106269" cy="1658391"/>
            <a:chOff x="0" y="0"/>
            <a:chExt cx="8141692" cy="221118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41716" cy="2211070"/>
            </a:xfrm>
            <a:custGeom>
              <a:avLst/>
              <a:gdLst/>
              <a:ahLst/>
              <a:cxnLst/>
              <a:rect r="r" b="b" t="t" l="l"/>
              <a:pathLst>
                <a:path h="2211070" w="8141716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7982966" y="0"/>
                  </a:lnTo>
                  <a:cubicBezTo>
                    <a:pt x="8070723" y="0"/>
                    <a:pt x="8141716" y="71120"/>
                    <a:pt x="8141716" y="158750"/>
                  </a:cubicBezTo>
                  <a:lnTo>
                    <a:pt x="8141716" y="2052320"/>
                  </a:lnTo>
                  <a:cubicBezTo>
                    <a:pt x="8141716" y="2140077"/>
                    <a:pt x="8070597" y="2211070"/>
                    <a:pt x="7982966" y="2211070"/>
                  </a:cubicBezTo>
                  <a:lnTo>
                    <a:pt x="158750" y="2211070"/>
                  </a:lnTo>
                  <a:cubicBezTo>
                    <a:pt x="70993" y="2211070"/>
                    <a:pt x="0" y="2139950"/>
                    <a:pt x="0" y="2052320"/>
                  </a:cubicBezTo>
                  <a:close/>
                </a:path>
              </a:pathLst>
            </a:custGeom>
            <a:solidFill>
              <a:srgbClr val="F3E4B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9" id="19"/>
          <p:cNvGrpSpPr>
            <a:grpSpLocks noChangeAspect="true"/>
          </p:cNvGrpSpPr>
          <p:nvPr/>
        </p:nvGrpSpPr>
        <p:grpSpPr>
          <a:xfrm rot="0">
            <a:off x="11482387" y="5484911"/>
            <a:ext cx="354360" cy="283518"/>
            <a:chOff x="0" y="0"/>
            <a:chExt cx="472480" cy="378023"/>
          </a:xfrm>
        </p:grpSpPr>
        <p:sp>
          <p:nvSpPr>
            <p:cNvPr name="Freeform 20" id="20" descr="preencoded.png"/>
            <p:cNvSpPr/>
            <p:nvPr/>
          </p:nvSpPr>
          <p:spPr>
            <a:xfrm flipH="false" flipV="false" rot="0">
              <a:off x="0" y="0"/>
              <a:ext cx="472440" cy="378079"/>
            </a:xfrm>
            <a:custGeom>
              <a:avLst/>
              <a:gdLst/>
              <a:ahLst/>
              <a:cxnLst/>
              <a:rect r="r" b="b" t="t" l="l"/>
              <a:pathLst>
                <a:path h="378079" w="472440">
                  <a:moveTo>
                    <a:pt x="0" y="0"/>
                  </a:moveTo>
                  <a:lnTo>
                    <a:pt x="472440" y="0"/>
                  </a:lnTo>
                  <a:lnTo>
                    <a:pt x="472440" y="378079"/>
                  </a:lnTo>
                  <a:lnTo>
                    <a:pt x="0" y="378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670" r="-8" b="-655"/>
              </a:stretch>
            </a:blip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2120265" y="5313909"/>
            <a:ext cx="4901356" cy="1002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Gender-based marketing strategies could optimize revenue streams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DFA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0" y="0"/>
            <a:ext cx="6858000" cy="10287000"/>
            <a:chOff x="0" y="0"/>
            <a:chExt cx="91440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7850237" y="1835497"/>
            <a:ext cx="9445526" cy="1800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High-Value Discount Users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850237" y="3965972"/>
            <a:ext cx="9445526" cy="548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Customers using discounts while spending above average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7845475" y="4829026"/>
            <a:ext cx="9455051" cy="1662261"/>
            <a:chOff x="0" y="0"/>
            <a:chExt cx="12606735" cy="221634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6350" y="6350"/>
              <a:ext cx="12594082" cy="2203577"/>
            </a:xfrm>
            <a:custGeom>
              <a:avLst/>
              <a:gdLst/>
              <a:ahLst/>
              <a:cxnLst/>
              <a:rect r="r" b="b" t="t" l="l"/>
              <a:pathLst>
                <a:path h="2203577" w="12594082">
                  <a:moveTo>
                    <a:pt x="0" y="158750"/>
                  </a:moveTo>
                  <a:cubicBezTo>
                    <a:pt x="0" y="71120"/>
                    <a:pt x="71374" y="0"/>
                    <a:pt x="159512" y="0"/>
                  </a:cubicBezTo>
                  <a:lnTo>
                    <a:pt x="12434570" y="0"/>
                  </a:lnTo>
                  <a:cubicBezTo>
                    <a:pt x="12522708" y="0"/>
                    <a:pt x="12594082" y="71120"/>
                    <a:pt x="12594082" y="158750"/>
                  </a:cubicBezTo>
                  <a:lnTo>
                    <a:pt x="12594082" y="2044827"/>
                  </a:lnTo>
                  <a:cubicBezTo>
                    <a:pt x="12594082" y="2132457"/>
                    <a:pt x="12522708" y="2203577"/>
                    <a:pt x="12434570" y="2203577"/>
                  </a:cubicBezTo>
                  <a:lnTo>
                    <a:pt x="159512" y="2203577"/>
                  </a:lnTo>
                  <a:cubicBezTo>
                    <a:pt x="71374" y="2203577"/>
                    <a:pt x="0" y="2132457"/>
                    <a:pt x="0" y="2044827"/>
                  </a:cubicBezTo>
                  <a:close/>
                </a:path>
              </a:pathLst>
            </a:custGeom>
            <a:solidFill>
              <a:srgbClr val="F7EDD4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606782" cy="2216277"/>
            </a:xfrm>
            <a:custGeom>
              <a:avLst/>
              <a:gdLst/>
              <a:ahLst/>
              <a:cxnLst/>
              <a:rect r="r" b="b" t="t" l="l"/>
              <a:pathLst>
                <a:path h="2216277" w="12606782">
                  <a:moveTo>
                    <a:pt x="0" y="165100"/>
                  </a:moveTo>
                  <a:cubicBezTo>
                    <a:pt x="0" y="73914"/>
                    <a:pt x="74295" y="0"/>
                    <a:pt x="165862" y="0"/>
                  </a:cubicBezTo>
                  <a:lnTo>
                    <a:pt x="12440920" y="0"/>
                  </a:lnTo>
                  <a:lnTo>
                    <a:pt x="12440920" y="6350"/>
                  </a:lnTo>
                  <a:lnTo>
                    <a:pt x="12440920" y="0"/>
                  </a:lnTo>
                  <a:cubicBezTo>
                    <a:pt x="12532487" y="0"/>
                    <a:pt x="12606782" y="73914"/>
                    <a:pt x="12606782" y="165100"/>
                  </a:cubicBezTo>
                  <a:lnTo>
                    <a:pt x="12600432" y="165100"/>
                  </a:lnTo>
                  <a:lnTo>
                    <a:pt x="12606782" y="165100"/>
                  </a:lnTo>
                  <a:lnTo>
                    <a:pt x="12606782" y="2051177"/>
                  </a:lnTo>
                  <a:lnTo>
                    <a:pt x="12600432" y="2051177"/>
                  </a:lnTo>
                  <a:lnTo>
                    <a:pt x="12606782" y="2051177"/>
                  </a:lnTo>
                  <a:cubicBezTo>
                    <a:pt x="12606782" y="2142363"/>
                    <a:pt x="12532487" y="2216277"/>
                    <a:pt x="12440920" y="2216277"/>
                  </a:cubicBezTo>
                  <a:lnTo>
                    <a:pt x="12440920" y="2209927"/>
                  </a:lnTo>
                  <a:lnTo>
                    <a:pt x="12440920" y="2216277"/>
                  </a:lnTo>
                  <a:lnTo>
                    <a:pt x="165862" y="2216277"/>
                  </a:lnTo>
                  <a:lnTo>
                    <a:pt x="165862" y="2209927"/>
                  </a:lnTo>
                  <a:lnTo>
                    <a:pt x="165862" y="2216277"/>
                  </a:lnTo>
                  <a:cubicBezTo>
                    <a:pt x="74295" y="2216277"/>
                    <a:pt x="0" y="2142363"/>
                    <a:pt x="0" y="2051177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2051177"/>
                  </a:lnTo>
                  <a:lnTo>
                    <a:pt x="6350" y="2051177"/>
                  </a:lnTo>
                  <a:lnTo>
                    <a:pt x="12700" y="2051177"/>
                  </a:lnTo>
                  <a:cubicBezTo>
                    <a:pt x="12700" y="2135378"/>
                    <a:pt x="81280" y="2203577"/>
                    <a:pt x="165862" y="2203577"/>
                  </a:cubicBezTo>
                  <a:lnTo>
                    <a:pt x="12440920" y="2203577"/>
                  </a:lnTo>
                  <a:cubicBezTo>
                    <a:pt x="12525501" y="2203577"/>
                    <a:pt x="12594082" y="2135251"/>
                    <a:pt x="12594082" y="2051177"/>
                  </a:cubicBezTo>
                  <a:lnTo>
                    <a:pt x="12594082" y="165100"/>
                  </a:lnTo>
                  <a:cubicBezTo>
                    <a:pt x="12594082" y="80899"/>
                    <a:pt x="12525501" y="12700"/>
                    <a:pt x="12440920" y="12700"/>
                  </a:cubicBezTo>
                  <a:lnTo>
                    <a:pt x="165862" y="12700"/>
                  </a:lnTo>
                  <a:lnTo>
                    <a:pt x="165862" y="6350"/>
                  </a:lnTo>
                  <a:lnTo>
                    <a:pt x="165862" y="12700"/>
                  </a:lnTo>
                  <a:cubicBezTo>
                    <a:pt x="81280" y="12700"/>
                    <a:pt x="12700" y="81026"/>
                    <a:pt x="12700" y="165100"/>
                  </a:cubicBezTo>
                  <a:close/>
                </a:path>
              </a:pathLst>
            </a:custGeom>
            <a:solidFill>
              <a:srgbClr val="DDD3BA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8143280" y="5107781"/>
            <a:ext cx="3544044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Smart Shoppers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143280" y="5644604"/>
            <a:ext cx="8859441" cy="548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High spenders who maximize value with discounts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7845475" y="6765280"/>
            <a:ext cx="9455051" cy="1662261"/>
            <a:chOff x="0" y="0"/>
            <a:chExt cx="12606735" cy="221634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6350" y="6350"/>
              <a:ext cx="12594082" cy="2203577"/>
            </a:xfrm>
            <a:custGeom>
              <a:avLst/>
              <a:gdLst/>
              <a:ahLst/>
              <a:cxnLst/>
              <a:rect r="r" b="b" t="t" l="l"/>
              <a:pathLst>
                <a:path h="2203577" w="12594082">
                  <a:moveTo>
                    <a:pt x="0" y="158750"/>
                  </a:moveTo>
                  <a:cubicBezTo>
                    <a:pt x="0" y="71120"/>
                    <a:pt x="71374" y="0"/>
                    <a:pt x="159512" y="0"/>
                  </a:cubicBezTo>
                  <a:lnTo>
                    <a:pt x="12434570" y="0"/>
                  </a:lnTo>
                  <a:cubicBezTo>
                    <a:pt x="12522708" y="0"/>
                    <a:pt x="12594082" y="71120"/>
                    <a:pt x="12594082" y="158750"/>
                  </a:cubicBezTo>
                  <a:lnTo>
                    <a:pt x="12594082" y="2044827"/>
                  </a:lnTo>
                  <a:cubicBezTo>
                    <a:pt x="12594082" y="2132457"/>
                    <a:pt x="12522708" y="2203577"/>
                    <a:pt x="12434570" y="2203577"/>
                  </a:cubicBezTo>
                  <a:lnTo>
                    <a:pt x="159512" y="2203577"/>
                  </a:lnTo>
                  <a:cubicBezTo>
                    <a:pt x="71374" y="2203577"/>
                    <a:pt x="0" y="2132457"/>
                    <a:pt x="0" y="2044827"/>
                  </a:cubicBezTo>
                  <a:close/>
                </a:path>
              </a:pathLst>
            </a:custGeom>
            <a:solidFill>
              <a:srgbClr val="F7EDD4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2606782" cy="2216277"/>
            </a:xfrm>
            <a:custGeom>
              <a:avLst/>
              <a:gdLst/>
              <a:ahLst/>
              <a:cxnLst/>
              <a:rect r="r" b="b" t="t" l="l"/>
              <a:pathLst>
                <a:path h="2216277" w="12606782">
                  <a:moveTo>
                    <a:pt x="0" y="165100"/>
                  </a:moveTo>
                  <a:cubicBezTo>
                    <a:pt x="0" y="73914"/>
                    <a:pt x="74295" y="0"/>
                    <a:pt x="165862" y="0"/>
                  </a:cubicBezTo>
                  <a:lnTo>
                    <a:pt x="12440920" y="0"/>
                  </a:lnTo>
                  <a:lnTo>
                    <a:pt x="12440920" y="6350"/>
                  </a:lnTo>
                  <a:lnTo>
                    <a:pt x="12440920" y="0"/>
                  </a:lnTo>
                  <a:cubicBezTo>
                    <a:pt x="12532487" y="0"/>
                    <a:pt x="12606782" y="73914"/>
                    <a:pt x="12606782" y="165100"/>
                  </a:cubicBezTo>
                  <a:lnTo>
                    <a:pt x="12600432" y="165100"/>
                  </a:lnTo>
                  <a:lnTo>
                    <a:pt x="12606782" y="165100"/>
                  </a:lnTo>
                  <a:lnTo>
                    <a:pt x="12606782" y="2051177"/>
                  </a:lnTo>
                  <a:lnTo>
                    <a:pt x="12600432" y="2051177"/>
                  </a:lnTo>
                  <a:lnTo>
                    <a:pt x="12606782" y="2051177"/>
                  </a:lnTo>
                  <a:cubicBezTo>
                    <a:pt x="12606782" y="2142363"/>
                    <a:pt x="12532487" y="2216277"/>
                    <a:pt x="12440920" y="2216277"/>
                  </a:cubicBezTo>
                  <a:lnTo>
                    <a:pt x="12440920" y="2209927"/>
                  </a:lnTo>
                  <a:lnTo>
                    <a:pt x="12440920" y="2216277"/>
                  </a:lnTo>
                  <a:lnTo>
                    <a:pt x="165862" y="2216277"/>
                  </a:lnTo>
                  <a:lnTo>
                    <a:pt x="165862" y="2209927"/>
                  </a:lnTo>
                  <a:lnTo>
                    <a:pt x="165862" y="2216277"/>
                  </a:lnTo>
                  <a:cubicBezTo>
                    <a:pt x="74295" y="2216277"/>
                    <a:pt x="0" y="2142363"/>
                    <a:pt x="0" y="2051177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2051177"/>
                  </a:lnTo>
                  <a:lnTo>
                    <a:pt x="6350" y="2051177"/>
                  </a:lnTo>
                  <a:lnTo>
                    <a:pt x="12700" y="2051177"/>
                  </a:lnTo>
                  <a:cubicBezTo>
                    <a:pt x="12700" y="2135378"/>
                    <a:pt x="81280" y="2203577"/>
                    <a:pt x="165862" y="2203577"/>
                  </a:cubicBezTo>
                  <a:lnTo>
                    <a:pt x="12440920" y="2203577"/>
                  </a:lnTo>
                  <a:cubicBezTo>
                    <a:pt x="12525501" y="2203577"/>
                    <a:pt x="12594082" y="2135251"/>
                    <a:pt x="12594082" y="2051177"/>
                  </a:cubicBezTo>
                  <a:lnTo>
                    <a:pt x="12594082" y="165100"/>
                  </a:lnTo>
                  <a:cubicBezTo>
                    <a:pt x="12594082" y="80899"/>
                    <a:pt x="12525501" y="12700"/>
                    <a:pt x="12440920" y="12700"/>
                  </a:cubicBezTo>
                  <a:lnTo>
                    <a:pt x="165862" y="12700"/>
                  </a:lnTo>
                  <a:lnTo>
                    <a:pt x="165862" y="6350"/>
                  </a:lnTo>
                  <a:lnTo>
                    <a:pt x="165862" y="12700"/>
                  </a:lnTo>
                  <a:cubicBezTo>
                    <a:pt x="81280" y="12700"/>
                    <a:pt x="12700" y="81026"/>
                    <a:pt x="12700" y="165100"/>
                  </a:cubicBezTo>
                  <a:close/>
                </a:path>
              </a:pathLst>
            </a:custGeom>
            <a:solidFill>
              <a:srgbClr val="DDD3BA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8" id="18"/>
          <p:cNvSpPr txBox="true"/>
          <p:nvPr/>
        </p:nvSpPr>
        <p:spPr>
          <a:xfrm rot="0">
            <a:off x="8143280" y="7044035"/>
            <a:ext cx="4000202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Strategic Opportunity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143280" y="7580859"/>
            <a:ext cx="8859441" cy="548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Target premium customers with exclusive offers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DFA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0" y="0"/>
            <a:ext cx="18288000" cy="3544044"/>
            <a:chOff x="0" y="0"/>
            <a:chExt cx="24384000" cy="4725392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24384000" cy="4725416"/>
            </a:xfrm>
            <a:custGeom>
              <a:avLst/>
              <a:gdLst/>
              <a:ahLst/>
              <a:cxnLst/>
              <a:rect r="r" b="b" t="t" l="l"/>
              <a:pathLst>
                <a:path h="472541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725416"/>
                  </a:lnTo>
                  <a:lnTo>
                    <a:pt x="0" y="47254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0" t="0" r="-1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992238" y="5340846"/>
            <a:ext cx="7265789" cy="914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Top-Rated Products</a:t>
            </a:r>
          </a:p>
        </p:txBody>
      </p: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992238" y="6680598"/>
            <a:ext cx="478334" cy="425203"/>
            <a:chOff x="0" y="0"/>
            <a:chExt cx="637778" cy="566937"/>
          </a:xfrm>
        </p:grpSpPr>
        <p:sp>
          <p:nvSpPr>
            <p:cNvPr name="Freeform 10" id="10" descr="preencoded.png"/>
            <p:cNvSpPr/>
            <p:nvPr/>
          </p:nvSpPr>
          <p:spPr>
            <a:xfrm flipH="false" flipV="false" rot="0">
              <a:off x="0" y="0"/>
              <a:ext cx="637794" cy="566928"/>
            </a:xfrm>
            <a:custGeom>
              <a:avLst/>
              <a:gdLst/>
              <a:ahLst/>
              <a:cxnLst/>
              <a:rect r="r" b="b" t="t" l="l"/>
              <a:pathLst>
                <a:path h="566928" w="637794">
                  <a:moveTo>
                    <a:pt x="0" y="0"/>
                  </a:moveTo>
                  <a:lnTo>
                    <a:pt x="637794" y="0"/>
                  </a:lnTo>
                  <a:lnTo>
                    <a:pt x="637794" y="566928"/>
                  </a:lnTo>
                  <a:lnTo>
                    <a:pt x="0" y="5669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622" r="2" b="-624"/>
              </a:stretch>
            </a:blipFill>
          </p:spPr>
        </p:sp>
      </p:grpSp>
      <p:grpSp>
        <p:nvGrpSpPr>
          <p:cNvPr name="Group 11" id="11"/>
          <p:cNvGrpSpPr>
            <a:grpSpLocks noChangeAspect="true"/>
          </p:cNvGrpSpPr>
          <p:nvPr/>
        </p:nvGrpSpPr>
        <p:grpSpPr>
          <a:xfrm rot="0">
            <a:off x="1541412" y="6680598"/>
            <a:ext cx="478334" cy="425203"/>
            <a:chOff x="0" y="0"/>
            <a:chExt cx="637778" cy="566937"/>
          </a:xfrm>
        </p:grpSpPr>
        <p:sp>
          <p:nvSpPr>
            <p:cNvPr name="Freeform 12" id="12" descr="preencoded.png"/>
            <p:cNvSpPr/>
            <p:nvPr/>
          </p:nvSpPr>
          <p:spPr>
            <a:xfrm flipH="false" flipV="false" rot="0">
              <a:off x="0" y="0"/>
              <a:ext cx="637794" cy="566928"/>
            </a:xfrm>
            <a:custGeom>
              <a:avLst/>
              <a:gdLst/>
              <a:ahLst/>
              <a:cxnLst/>
              <a:rect r="r" b="b" t="t" l="l"/>
              <a:pathLst>
                <a:path h="566928" w="637794">
                  <a:moveTo>
                    <a:pt x="0" y="0"/>
                  </a:moveTo>
                  <a:lnTo>
                    <a:pt x="637794" y="0"/>
                  </a:lnTo>
                  <a:lnTo>
                    <a:pt x="637794" y="566928"/>
                  </a:lnTo>
                  <a:lnTo>
                    <a:pt x="0" y="5669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622" r="2" b="-624"/>
              </a:stretch>
            </a:blipFill>
          </p:spPr>
        </p:sp>
      </p:grpSp>
      <p:grpSp>
        <p:nvGrpSpPr>
          <p:cNvPr name="Group 13" id="13"/>
          <p:cNvGrpSpPr>
            <a:grpSpLocks noChangeAspect="true"/>
          </p:cNvGrpSpPr>
          <p:nvPr/>
        </p:nvGrpSpPr>
        <p:grpSpPr>
          <a:xfrm rot="0">
            <a:off x="2090589" y="6680598"/>
            <a:ext cx="478334" cy="425203"/>
            <a:chOff x="0" y="0"/>
            <a:chExt cx="637778" cy="566937"/>
          </a:xfrm>
        </p:grpSpPr>
        <p:sp>
          <p:nvSpPr>
            <p:cNvPr name="Freeform 14" id="14" descr="preencoded.png"/>
            <p:cNvSpPr/>
            <p:nvPr/>
          </p:nvSpPr>
          <p:spPr>
            <a:xfrm flipH="false" flipV="false" rot="0">
              <a:off x="0" y="0"/>
              <a:ext cx="637794" cy="566928"/>
            </a:xfrm>
            <a:custGeom>
              <a:avLst/>
              <a:gdLst/>
              <a:ahLst/>
              <a:cxnLst/>
              <a:rect r="r" b="b" t="t" l="l"/>
              <a:pathLst>
                <a:path h="566928" w="637794">
                  <a:moveTo>
                    <a:pt x="0" y="0"/>
                  </a:moveTo>
                  <a:lnTo>
                    <a:pt x="637794" y="0"/>
                  </a:lnTo>
                  <a:lnTo>
                    <a:pt x="637794" y="566928"/>
                  </a:lnTo>
                  <a:lnTo>
                    <a:pt x="0" y="5669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622" r="2" b="-624"/>
              </a:stretch>
            </a:blipFill>
          </p:spPr>
        </p:sp>
      </p:grpSp>
      <p:grpSp>
        <p:nvGrpSpPr>
          <p:cNvPr name="Group 15" id="15"/>
          <p:cNvGrpSpPr>
            <a:grpSpLocks noChangeAspect="true"/>
          </p:cNvGrpSpPr>
          <p:nvPr/>
        </p:nvGrpSpPr>
        <p:grpSpPr>
          <a:xfrm rot="0">
            <a:off x="2639765" y="6680598"/>
            <a:ext cx="478334" cy="425203"/>
            <a:chOff x="0" y="0"/>
            <a:chExt cx="637778" cy="566937"/>
          </a:xfrm>
        </p:grpSpPr>
        <p:sp>
          <p:nvSpPr>
            <p:cNvPr name="Freeform 16" id="16" descr="preencoded.png"/>
            <p:cNvSpPr/>
            <p:nvPr/>
          </p:nvSpPr>
          <p:spPr>
            <a:xfrm flipH="false" flipV="false" rot="0">
              <a:off x="0" y="0"/>
              <a:ext cx="637794" cy="566928"/>
            </a:xfrm>
            <a:custGeom>
              <a:avLst/>
              <a:gdLst/>
              <a:ahLst/>
              <a:cxnLst/>
              <a:rect r="r" b="b" t="t" l="l"/>
              <a:pathLst>
                <a:path h="566928" w="637794">
                  <a:moveTo>
                    <a:pt x="0" y="0"/>
                  </a:moveTo>
                  <a:lnTo>
                    <a:pt x="637794" y="0"/>
                  </a:lnTo>
                  <a:lnTo>
                    <a:pt x="637794" y="566928"/>
                  </a:lnTo>
                  <a:lnTo>
                    <a:pt x="0" y="5669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622" r="2" b="-624"/>
              </a:stretch>
            </a:blipFill>
          </p:spPr>
        </p:sp>
      </p:grpSp>
      <p:grpSp>
        <p:nvGrpSpPr>
          <p:cNvPr name="Group 17" id="17"/>
          <p:cNvGrpSpPr>
            <a:grpSpLocks noChangeAspect="true"/>
          </p:cNvGrpSpPr>
          <p:nvPr/>
        </p:nvGrpSpPr>
        <p:grpSpPr>
          <a:xfrm rot="0">
            <a:off x="3188940" y="6680598"/>
            <a:ext cx="478334" cy="425203"/>
            <a:chOff x="0" y="0"/>
            <a:chExt cx="637778" cy="566937"/>
          </a:xfrm>
        </p:grpSpPr>
        <p:sp>
          <p:nvSpPr>
            <p:cNvPr name="Freeform 18" id="18" descr="preencoded.png"/>
            <p:cNvSpPr/>
            <p:nvPr/>
          </p:nvSpPr>
          <p:spPr>
            <a:xfrm flipH="false" flipV="false" rot="0">
              <a:off x="0" y="0"/>
              <a:ext cx="637794" cy="566928"/>
            </a:xfrm>
            <a:custGeom>
              <a:avLst/>
              <a:gdLst/>
              <a:ahLst/>
              <a:cxnLst/>
              <a:rect r="r" b="b" t="t" l="l"/>
              <a:pathLst>
                <a:path h="566928" w="637794">
                  <a:moveTo>
                    <a:pt x="0" y="0"/>
                  </a:moveTo>
                  <a:lnTo>
                    <a:pt x="637794" y="0"/>
                  </a:lnTo>
                  <a:lnTo>
                    <a:pt x="637794" y="566928"/>
                  </a:lnTo>
                  <a:lnTo>
                    <a:pt x="0" y="5669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622" r="2" b="-624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3879800" y="6801891"/>
            <a:ext cx="354360" cy="306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2750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5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92238" y="7375923"/>
            <a:ext cx="3544044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Blouse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92238" y="7912745"/>
            <a:ext cx="5198269" cy="548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Highest customer satisfaction</a:t>
            </a:r>
          </a:p>
        </p:txBody>
      </p:sp>
      <p:grpSp>
        <p:nvGrpSpPr>
          <p:cNvPr name="Group 22" id="22"/>
          <p:cNvGrpSpPr>
            <a:grpSpLocks noChangeAspect="true"/>
          </p:cNvGrpSpPr>
          <p:nvPr/>
        </p:nvGrpSpPr>
        <p:grpSpPr>
          <a:xfrm rot="0">
            <a:off x="6544866" y="6680598"/>
            <a:ext cx="478334" cy="425203"/>
            <a:chOff x="0" y="0"/>
            <a:chExt cx="637778" cy="566937"/>
          </a:xfrm>
        </p:grpSpPr>
        <p:sp>
          <p:nvSpPr>
            <p:cNvPr name="Freeform 23" id="23" descr="preencoded.png"/>
            <p:cNvSpPr/>
            <p:nvPr/>
          </p:nvSpPr>
          <p:spPr>
            <a:xfrm flipH="false" flipV="false" rot="0">
              <a:off x="0" y="0"/>
              <a:ext cx="637794" cy="566928"/>
            </a:xfrm>
            <a:custGeom>
              <a:avLst/>
              <a:gdLst/>
              <a:ahLst/>
              <a:cxnLst/>
              <a:rect r="r" b="b" t="t" l="l"/>
              <a:pathLst>
                <a:path h="566928" w="637794">
                  <a:moveTo>
                    <a:pt x="0" y="0"/>
                  </a:moveTo>
                  <a:lnTo>
                    <a:pt x="637794" y="0"/>
                  </a:lnTo>
                  <a:lnTo>
                    <a:pt x="637794" y="566928"/>
                  </a:lnTo>
                  <a:lnTo>
                    <a:pt x="0" y="5669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622" r="2" b="-624"/>
              </a:stretch>
            </a:blipFill>
          </p:spPr>
        </p:sp>
      </p:grpSp>
      <p:grpSp>
        <p:nvGrpSpPr>
          <p:cNvPr name="Group 24" id="24"/>
          <p:cNvGrpSpPr>
            <a:grpSpLocks noChangeAspect="true"/>
          </p:cNvGrpSpPr>
          <p:nvPr/>
        </p:nvGrpSpPr>
        <p:grpSpPr>
          <a:xfrm rot="0">
            <a:off x="7094041" y="6680598"/>
            <a:ext cx="478334" cy="425203"/>
            <a:chOff x="0" y="0"/>
            <a:chExt cx="637778" cy="566937"/>
          </a:xfrm>
        </p:grpSpPr>
        <p:sp>
          <p:nvSpPr>
            <p:cNvPr name="Freeform 25" id="25" descr="preencoded.png"/>
            <p:cNvSpPr/>
            <p:nvPr/>
          </p:nvSpPr>
          <p:spPr>
            <a:xfrm flipH="false" flipV="false" rot="0">
              <a:off x="0" y="0"/>
              <a:ext cx="637794" cy="566928"/>
            </a:xfrm>
            <a:custGeom>
              <a:avLst/>
              <a:gdLst/>
              <a:ahLst/>
              <a:cxnLst/>
              <a:rect r="r" b="b" t="t" l="l"/>
              <a:pathLst>
                <a:path h="566928" w="637794">
                  <a:moveTo>
                    <a:pt x="0" y="0"/>
                  </a:moveTo>
                  <a:lnTo>
                    <a:pt x="637794" y="0"/>
                  </a:lnTo>
                  <a:lnTo>
                    <a:pt x="637794" y="566928"/>
                  </a:lnTo>
                  <a:lnTo>
                    <a:pt x="0" y="5669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622" r="2" b="-624"/>
              </a:stretch>
            </a:blipFill>
          </p:spPr>
        </p:sp>
      </p:grpSp>
      <p:grpSp>
        <p:nvGrpSpPr>
          <p:cNvPr name="Group 26" id="26"/>
          <p:cNvGrpSpPr>
            <a:grpSpLocks noChangeAspect="true"/>
          </p:cNvGrpSpPr>
          <p:nvPr/>
        </p:nvGrpSpPr>
        <p:grpSpPr>
          <a:xfrm rot="0">
            <a:off x="7643217" y="6680598"/>
            <a:ext cx="478334" cy="425203"/>
            <a:chOff x="0" y="0"/>
            <a:chExt cx="637778" cy="566937"/>
          </a:xfrm>
        </p:grpSpPr>
        <p:sp>
          <p:nvSpPr>
            <p:cNvPr name="Freeform 27" id="27" descr="preencoded.png"/>
            <p:cNvSpPr/>
            <p:nvPr/>
          </p:nvSpPr>
          <p:spPr>
            <a:xfrm flipH="false" flipV="false" rot="0">
              <a:off x="0" y="0"/>
              <a:ext cx="637794" cy="566928"/>
            </a:xfrm>
            <a:custGeom>
              <a:avLst/>
              <a:gdLst/>
              <a:ahLst/>
              <a:cxnLst/>
              <a:rect r="r" b="b" t="t" l="l"/>
              <a:pathLst>
                <a:path h="566928" w="637794">
                  <a:moveTo>
                    <a:pt x="0" y="0"/>
                  </a:moveTo>
                  <a:lnTo>
                    <a:pt x="637794" y="0"/>
                  </a:lnTo>
                  <a:lnTo>
                    <a:pt x="637794" y="566928"/>
                  </a:lnTo>
                  <a:lnTo>
                    <a:pt x="0" y="5669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622" r="2" b="-624"/>
              </a:stretch>
            </a:blipFill>
          </p:spPr>
        </p:sp>
      </p:grpSp>
      <p:grpSp>
        <p:nvGrpSpPr>
          <p:cNvPr name="Group 28" id="28"/>
          <p:cNvGrpSpPr>
            <a:grpSpLocks noChangeAspect="true"/>
          </p:cNvGrpSpPr>
          <p:nvPr/>
        </p:nvGrpSpPr>
        <p:grpSpPr>
          <a:xfrm rot="0">
            <a:off x="8192392" y="6680598"/>
            <a:ext cx="478334" cy="425203"/>
            <a:chOff x="0" y="0"/>
            <a:chExt cx="637778" cy="566937"/>
          </a:xfrm>
        </p:grpSpPr>
        <p:sp>
          <p:nvSpPr>
            <p:cNvPr name="Freeform 29" id="29" descr="preencoded.png"/>
            <p:cNvSpPr/>
            <p:nvPr/>
          </p:nvSpPr>
          <p:spPr>
            <a:xfrm flipH="false" flipV="false" rot="0">
              <a:off x="0" y="0"/>
              <a:ext cx="637794" cy="566928"/>
            </a:xfrm>
            <a:custGeom>
              <a:avLst/>
              <a:gdLst/>
              <a:ahLst/>
              <a:cxnLst/>
              <a:rect r="r" b="b" t="t" l="l"/>
              <a:pathLst>
                <a:path h="566928" w="637794">
                  <a:moveTo>
                    <a:pt x="0" y="0"/>
                  </a:moveTo>
                  <a:lnTo>
                    <a:pt x="637794" y="0"/>
                  </a:lnTo>
                  <a:lnTo>
                    <a:pt x="637794" y="566928"/>
                  </a:lnTo>
                  <a:lnTo>
                    <a:pt x="0" y="5669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622" r="2" b="-624"/>
              </a:stretch>
            </a:blipFill>
          </p:spPr>
        </p:sp>
      </p:grpSp>
      <p:grpSp>
        <p:nvGrpSpPr>
          <p:cNvPr name="Group 30" id="30"/>
          <p:cNvGrpSpPr>
            <a:grpSpLocks noChangeAspect="true"/>
          </p:cNvGrpSpPr>
          <p:nvPr/>
        </p:nvGrpSpPr>
        <p:grpSpPr>
          <a:xfrm rot="0">
            <a:off x="8741569" y="6680598"/>
            <a:ext cx="478334" cy="425203"/>
            <a:chOff x="0" y="0"/>
            <a:chExt cx="637778" cy="566937"/>
          </a:xfrm>
        </p:grpSpPr>
        <p:sp>
          <p:nvSpPr>
            <p:cNvPr name="Freeform 31" id="31" descr="preencoded.png"/>
            <p:cNvSpPr/>
            <p:nvPr/>
          </p:nvSpPr>
          <p:spPr>
            <a:xfrm flipH="false" flipV="false" rot="0">
              <a:off x="0" y="0"/>
              <a:ext cx="637794" cy="566928"/>
            </a:xfrm>
            <a:custGeom>
              <a:avLst/>
              <a:gdLst/>
              <a:ahLst/>
              <a:cxnLst/>
              <a:rect r="r" b="b" t="t" l="l"/>
              <a:pathLst>
                <a:path h="566928" w="637794">
                  <a:moveTo>
                    <a:pt x="0" y="0"/>
                  </a:moveTo>
                  <a:lnTo>
                    <a:pt x="637794" y="0"/>
                  </a:lnTo>
                  <a:lnTo>
                    <a:pt x="637794" y="566928"/>
                  </a:lnTo>
                  <a:lnTo>
                    <a:pt x="0" y="5669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622" r="2" b="-624"/>
              </a:stretch>
            </a:blip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9432429" y="6801891"/>
            <a:ext cx="354360" cy="306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2750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5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6544866" y="7375923"/>
            <a:ext cx="3544044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Dress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6544866" y="7912745"/>
            <a:ext cx="5198269" cy="548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Consistently excellent reviews</a:t>
            </a:r>
          </a:p>
        </p:txBody>
      </p:sp>
      <p:grpSp>
        <p:nvGrpSpPr>
          <p:cNvPr name="Group 35" id="35"/>
          <p:cNvGrpSpPr>
            <a:grpSpLocks noChangeAspect="true"/>
          </p:cNvGrpSpPr>
          <p:nvPr/>
        </p:nvGrpSpPr>
        <p:grpSpPr>
          <a:xfrm rot="0">
            <a:off x="12097494" y="6680598"/>
            <a:ext cx="478334" cy="425203"/>
            <a:chOff x="0" y="0"/>
            <a:chExt cx="637778" cy="566937"/>
          </a:xfrm>
        </p:grpSpPr>
        <p:sp>
          <p:nvSpPr>
            <p:cNvPr name="Freeform 36" id="36" descr="preencoded.png"/>
            <p:cNvSpPr/>
            <p:nvPr/>
          </p:nvSpPr>
          <p:spPr>
            <a:xfrm flipH="false" flipV="false" rot="0">
              <a:off x="0" y="0"/>
              <a:ext cx="637794" cy="566928"/>
            </a:xfrm>
            <a:custGeom>
              <a:avLst/>
              <a:gdLst/>
              <a:ahLst/>
              <a:cxnLst/>
              <a:rect r="r" b="b" t="t" l="l"/>
              <a:pathLst>
                <a:path h="566928" w="637794">
                  <a:moveTo>
                    <a:pt x="0" y="0"/>
                  </a:moveTo>
                  <a:lnTo>
                    <a:pt x="637794" y="0"/>
                  </a:lnTo>
                  <a:lnTo>
                    <a:pt x="637794" y="566928"/>
                  </a:lnTo>
                  <a:lnTo>
                    <a:pt x="0" y="5669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622" r="2" b="-624"/>
              </a:stretch>
            </a:blipFill>
          </p:spPr>
        </p:sp>
      </p:grpSp>
      <p:grpSp>
        <p:nvGrpSpPr>
          <p:cNvPr name="Group 37" id="37"/>
          <p:cNvGrpSpPr>
            <a:grpSpLocks noChangeAspect="true"/>
          </p:cNvGrpSpPr>
          <p:nvPr/>
        </p:nvGrpSpPr>
        <p:grpSpPr>
          <a:xfrm rot="0">
            <a:off x="12646670" y="6680598"/>
            <a:ext cx="478334" cy="425203"/>
            <a:chOff x="0" y="0"/>
            <a:chExt cx="637778" cy="566937"/>
          </a:xfrm>
        </p:grpSpPr>
        <p:sp>
          <p:nvSpPr>
            <p:cNvPr name="Freeform 38" id="38" descr="preencoded.png"/>
            <p:cNvSpPr/>
            <p:nvPr/>
          </p:nvSpPr>
          <p:spPr>
            <a:xfrm flipH="false" flipV="false" rot="0">
              <a:off x="0" y="0"/>
              <a:ext cx="637794" cy="566928"/>
            </a:xfrm>
            <a:custGeom>
              <a:avLst/>
              <a:gdLst/>
              <a:ahLst/>
              <a:cxnLst/>
              <a:rect r="r" b="b" t="t" l="l"/>
              <a:pathLst>
                <a:path h="566928" w="637794">
                  <a:moveTo>
                    <a:pt x="0" y="0"/>
                  </a:moveTo>
                  <a:lnTo>
                    <a:pt x="637794" y="0"/>
                  </a:lnTo>
                  <a:lnTo>
                    <a:pt x="637794" y="566928"/>
                  </a:lnTo>
                  <a:lnTo>
                    <a:pt x="0" y="5669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622" r="2" b="-624"/>
              </a:stretch>
            </a:blipFill>
          </p:spPr>
        </p:sp>
      </p:grpSp>
      <p:grpSp>
        <p:nvGrpSpPr>
          <p:cNvPr name="Group 39" id="39"/>
          <p:cNvGrpSpPr>
            <a:grpSpLocks noChangeAspect="true"/>
          </p:cNvGrpSpPr>
          <p:nvPr/>
        </p:nvGrpSpPr>
        <p:grpSpPr>
          <a:xfrm rot="0">
            <a:off x="13195846" y="6680598"/>
            <a:ext cx="478334" cy="425203"/>
            <a:chOff x="0" y="0"/>
            <a:chExt cx="637778" cy="566937"/>
          </a:xfrm>
        </p:grpSpPr>
        <p:sp>
          <p:nvSpPr>
            <p:cNvPr name="Freeform 40" id="40" descr="preencoded.png"/>
            <p:cNvSpPr/>
            <p:nvPr/>
          </p:nvSpPr>
          <p:spPr>
            <a:xfrm flipH="false" flipV="false" rot="0">
              <a:off x="0" y="0"/>
              <a:ext cx="637794" cy="566928"/>
            </a:xfrm>
            <a:custGeom>
              <a:avLst/>
              <a:gdLst/>
              <a:ahLst/>
              <a:cxnLst/>
              <a:rect r="r" b="b" t="t" l="l"/>
              <a:pathLst>
                <a:path h="566928" w="637794">
                  <a:moveTo>
                    <a:pt x="0" y="0"/>
                  </a:moveTo>
                  <a:lnTo>
                    <a:pt x="637794" y="0"/>
                  </a:lnTo>
                  <a:lnTo>
                    <a:pt x="637794" y="566928"/>
                  </a:lnTo>
                  <a:lnTo>
                    <a:pt x="0" y="5669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622" r="2" b="-624"/>
              </a:stretch>
            </a:blipFill>
          </p:spPr>
        </p:sp>
      </p:grpSp>
      <p:grpSp>
        <p:nvGrpSpPr>
          <p:cNvPr name="Group 41" id="41"/>
          <p:cNvGrpSpPr>
            <a:grpSpLocks noChangeAspect="true"/>
          </p:cNvGrpSpPr>
          <p:nvPr/>
        </p:nvGrpSpPr>
        <p:grpSpPr>
          <a:xfrm rot="0">
            <a:off x="13745021" y="6680598"/>
            <a:ext cx="478334" cy="425203"/>
            <a:chOff x="0" y="0"/>
            <a:chExt cx="637778" cy="566937"/>
          </a:xfrm>
        </p:grpSpPr>
        <p:sp>
          <p:nvSpPr>
            <p:cNvPr name="Freeform 42" id="42" descr="preencoded.png"/>
            <p:cNvSpPr/>
            <p:nvPr/>
          </p:nvSpPr>
          <p:spPr>
            <a:xfrm flipH="false" flipV="false" rot="0">
              <a:off x="0" y="0"/>
              <a:ext cx="637794" cy="566928"/>
            </a:xfrm>
            <a:custGeom>
              <a:avLst/>
              <a:gdLst/>
              <a:ahLst/>
              <a:cxnLst/>
              <a:rect r="r" b="b" t="t" l="l"/>
              <a:pathLst>
                <a:path h="566928" w="637794">
                  <a:moveTo>
                    <a:pt x="0" y="0"/>
                  </a:moveTo>
                  <a:lnTo>
                    <a:pt x="637794" y="0"/>
                  </a:lnTo>
                  <a:lnTo>
                    <a:pt x="637794" y="566928"/>
                  </a:lnTo>
                  <a:lnTo>
                    <a:pt x="0" y="5669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622" r="2" b="-624"/>
              </a:stretch>
            </a:blipFill>
          </p:spPr>
        </p:sp>
      </p:grpSp>
      <p:grpSp>
        <p:nvGrpSpPr>
          <p:cNvPr name="Group 43" id="43"/>
          <p:cNvGrpSpPr>
            <a:grpSpLocks noChangeAspect="true"/>
          </p:cNvGrpSpPr>
          <p:nvPr/>
        </p:nvGrpSpPr>
        <p:grpSpPr>
          <a:xfrm rot="0">
            <a:off x="14294198" y="6680598"/>
            <a:ext cx="478334" cy="425203"/>
            <a:chOff x="0" y="0"/>
            <a:chExt cx="637778" cy="566937"/>
          </a:xfrm>
        </p:grpSpPr>
        <p:sp>
          <p:nvSpPr>
            <p:cNvPr name="Freeform 44" id="44" descr="preencoded.png"/>
            <p:cNvSpPr/>
            <p:nvPr/>
          </p:nvSpPr>
          <p:spPr>
            <a:xfrm flipH="false" flipV="false" rot="0">
              <a:off x="0" y="0"/>
              <a:ext cx="637794" cy="566928"/>
            </a:xfrm>
            <a:custGeom>
              <a:avLst/>
              <a:gdLst/>
              <a:ahLst/>
              <a:cxnLst/>
              <a:rect r="r" b="b" t="t" l="l"/>
              <a:pathLst>
                <a:path h="566928" w="637794">
                  <a:moveTo>
                    <a:pt x="0" y="0"/>
                  </a:moveTo>
                  <a:lnTo>
                    <a:pt x="637794" y="0"/>
                  </a:lnTo>
                  <a:lnTo>
                    <a:pt x="637794" y="566928"/>
                  </a:lnTo>
                  <a:lnTo>
                    <a:pt x="0" y="5669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622" r="2" b="-624"/>
              </a:stretch>
            </a:blipFill>
          </p:spPr>
        </p:sp>
      </p:grpSp>
      <p:sp>
        <p:nvSpPr>
          <p:cNvPr name="TextBox 45" id="45"/>
          <p:cNvSpPr txBox="true"/>
          <p:nvPr/>
        </p:nvSpPr>
        <p:spPr>
          <a:xfrm rot="0">
            <a:off x="14985058" y="6801891"/>
            <a:ext cx="354360" cy="306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2750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4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2097494" y="7375923"/>
            <a:ext cx="3544044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Shirt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2097494" y="7912745"/>
            <a:ext cx="5198269" cy="548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Strong customer approval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DFA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16049019" y="9686925"/>
            <a:ext cx="2153256" cy="514350"/>
            <a:chOff x="0" y="0"/>
            <a:chExt cx="2871008" cy="685800"/>
          </a:xfrm>
        </p:grpSpPr>
        <p:sp>
          <p:nvSpPr>
            <p:cNvPr name="Freeform 7" id="7" descr="preencoded.png">
              <a:hlinkClick r:id="rId4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70962" cy="685800"/>
            </a:xfrm>
            <a:custGeom>
              <a:avLst/>
              <a:gdLst/>
              <a:ahLst/>
              <a:cxnLst/>
              <a:rect r="r" b="b" t="t" l="l"/>
              <a:pathLst>
                <a:path h="685800" w="2870962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1" b="0"/>
              </a:stretch>
            </a:blipFill>
          </p:spPr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11430000" y="0"/>
            <a:ext cx="6858000" cy="10287000"/>
            <a:chOff x="0" y="0"/>
            <a:chExt cx="9144000" cy="1371600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92238" y="1742926"/>
            <a:ext cx="9445526" cy="1800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Shipping Preferences Impact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238" y="4233119"/>
            <a:ext cx="3544044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Express Shipping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92238" y="4921449"/>
            <a:ext cx="4376886" cy="1829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37"/>
              </a:lnSpc>
            </a:pPr>
            <a:r>
              <a:rPr lang="en-US" sz="11124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$65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92238" y="6938962"/>
            <a:ext cx="4376886" cy="548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Average purchase amount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070401" y="4233119"/>
            <a:ext cx="3544044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Standard Shipping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070401" y="4921449"/>
            <a:ext cx="4376886" cy="1829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37"/>
              </a:lnSpc>
            </a:pPr>
            <a:r>
              <a:rPr lang="en-US" sz="11124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$58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070401" y="6938962"/>
            <a:ext cx="4376886" cy="548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Average purchase amount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92238" y="7966621"/>
            <a:ext cx="9445526" cy="548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Express shipping customers spend 12% more per transaction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DFA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1515964"/>
            <a:ext cx="7399139" cy="914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Subscription Impact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847552" y="4945261"/>
            <a:ext cx="3487341" cy="603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62"/>
              </a:lnSpc>
            </a:pPr>
            <a:r>
              <a:rPr lang="en-US" sz="5562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68%</a:t>
            </a:r>
          </a:p>
        </p:txBody>
      </p: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1464915" y="3068390"/>
            <a:ext cx="4252912" cy="4252912"/>
            <a:chOff x="0" y="0"/>
            <a:chExt cx="5670550" cy="567055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5670550" cy="5670550"/>
            </a:xfrm>
            <a:custGeom>
              <a:avLst/>
              <a:gdLst/>
              <a:ahLst/>
              <a:cxnLst/>
              <a:rect r="r" b="b" t="t" l="l"/>
              <a:pathLst>
                <a:path h="5670550" w="5670550">
                  <a:moveTo>
                    <a:pt x="0" y="0"/>
                  </a:moveTo>
                  <a:lnTo>
                    <a:pt x="5670550" y="0"/>
                  </a:lnTo>
                  <a:lnTo>
                    <a:pt x="5670550" y="5670550"/>
                  </a:lnTo>
                  <a:lnTo>
                    <a:pt x="0" y="5670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819275" y="7656611"/>
            <a:ext cx="3544044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37"/>
              </a:lnSpc>
            </a:pPr>
            <a:r>
              <a:rPr lang="en-US" sz="2750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Higher Spend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238" y="8193435"/>
            <a:ext cx="5198269" cy="548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2"/>
              </a:lnSpc>
            </a:pP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Subscribers vs non-subscribers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400181" y="4945261"/>
            <a:ext cx="3487341" cy="603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62"/>
              </a:lnSpc>
            </a:pPr>
            <a:r>
              <a:rPr lang="en-US" sz="5562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45%</a:t>
            </a:r>
          </a:p>
        </p:txBody>
      </p:sp>
      <p:grpSp>
        <p:nvGrpSpPr>
          <p:cNvPr name="Group 13" id="13"/>
          <p:cNvGrpSpPr>
            <a:grpSpLocks noChangeAspect="true"/>
          </p:cNvGrpSpPr>
          <p:nvPr/>
        </p:nvGrpSpPr>
        <p:grpSpPr>
          <a:xfrm rot="0">
            <a:off x="7017544" y="3068390"/>
            <a:ext cx="4252912" cy="4252912"/>
            <a:chOff x="0" y="0"/>
            <a:chExt cx="5670550" cy="5670550"/>
          </a:xfrm>
        </p:grpSpPr>
        <p:sp>
          <p:nvSpPr>
            <p:cNvPr name="Freeform 14" id="14" descr="preencoded.png"/>
            <p:cNvSpPr/>
            <p:nvPr/>
          </p:nvSpPr>
          <p:spPr>
            <a:xfrm flipH="false" flipV="false" rot="0">
              <a:off x="0" y="0"/>
              <a:ext cx="5670550" cy="5670550"/>
            </a:xfrm>
            <a:custGeom>
              <a:avLst/>
              <a:gdLst/>
              <a:ahLst/>
              <a:cxnLst/>
              <a:rect r="r" b="b" t="t" l="l"/>
              <a:pathLst>
                <a:path h="5670550" w="5670550">
                  <a:moveTo>
                    <a:pt x="0" y="0"/>
                  </a:moveTo>
                  <a:lnTo>
                    <a:pt x="5670550" y="0"/>
                  </a:lnTo>
                  <a:lnTo>
                    <a:pt x="5670550" y="5670550"/>
                  </a:lnTo>
                  <a:lnTo>
                    <a:pt x="0" y="5670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7371904" y="7656611"/>
            <a:ext cx="3544044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37"/>
              </a:lnSpc>
            </a:pPr>
            <a:r>
              <a:rPr lang="en-US" sz="2750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Revenue Share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544866" y="8193435"/>
            <a:ext cx="5198269" cy="548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2"/>
              </a:lnSpc>
            </a:pP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From subscription customers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952810" y="4945261"/>
            <a:ext cx="3487341" cy="603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62"/>
              </a:lnSpc>
            </a:pPr>
            <a:r>
              <a:rPr lang="en-US" sz="5562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78%</a:t>
            </a:r>
          </a:p>
        </p:txBody>
      </p:sp>
      <p:grpSp>
        <p:nvGrpSpPr>
          <p:cNvPr name="Group 18" id="18"/>
          <p:cNvGrpSpPr>
            <a:grpSpLocks noChangeAspect="true"/>
          </p:cNvGrpSpPr>
          <p:nvPr/>
        </p:nvGrpSpPr>
        <p:grpSpPr>
          <a:xfrm rot="0">
            <a:off x="12570172" y="3068390"/>
            <a:ext cx="4252912" cy="4252912"/>
            <a:chOff x="0" y="0"/>
            <a:chExt cx="5670550" cy="5670550"/>
          </a:xfrm>
        </p:grpSpPr>
        <p:sp>
          <p:nvSpPr>
            <p:cNvPr name="Freeform 19" id="19" descr="preencoded.png"/>
            <p:cNvSpPr/>
            <p:nvPr/>
          </p:nvSpPr>
          <p:spPr>
            <a:xfrm flipH="false" flipV="false" rot="0">
              <a:off x="0" y="0"/>
              <a:ext cx="5670550" cy="5670550"/>
            </a:xfrm>
            <a:custGeom>
              <a:avLst/>
              <a:gdLst/>
              <a:ahLst/>
              <a:cxnLst/>
              <a:rect r="r" b="b" t="t" l="l"/>
              <a:pathLst>
                <a:path h="5670550" w="5670550">
                  <a:moveTo>
                    <a:pt x="0" y="0"/>
                  </a:moveTo>
                  <a:lnTo>
                    <a:pt x="5670550" y="0"/>
                  </a:lnTo>
                  <a:lnTo>
                    <a:pt x="5670550" y="5670550"/>
                  </a:lnTo>
                  <a:lnTo>
                    <a:pt x="0" y="5670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2924533" y="7656611"/>
            <a:ext cx="3544044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37"/>
              </a:lnSpc>
            </a:pPr>
            <a:r>
              <a:rPr lang="en-US" sz="2750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Loyalty Rate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097494" y="8193435"/>
            <a:ext cx="5198269" cy="548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2"/>
              </a:lnSpc>
            </a:pP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Repeat purchase frequency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DFA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1480691"/>
            <a:ext cx="8850511" cy="914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Customer Segmentation</a:t>
            </a:r>
          </a:p>
        </p:txBody>
      </p: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3722935" y="2962275"/>
            <a:ext cx="2690069" cy="1633686"/>
            <a:chOff x="0" y="0"/>
            <a:chExt cx="3586758" cy="2178248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3586734" cy="2178304"/>
            </a:xfrm>
            <a:custGeom>
              <a:avLst/>
              <a:gdLst/>
              <a:ahLst/>
              <a:cxnLst/>
              <a:rect r="r" b="b" t="t" l="l"/>
              <a:pathLst>
                <a:path h="2178304" w="3586734">
                  <a:moveTo>
                    <a:pt x="0" y="0"/>
                  </a:moveTo>
                  <a:lnTo>
                    <a:pt x="3586734" y="0"/>
                  </a:lnTo>
                  <a:lnTo>
                    <a:pt x="3586734" y="2178304"/>
                  </a:lnTo>
                  <a:lnTo>
                    <a:pt x="0" y="21783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216" r="0" b="-213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4868615" y="3618011"/>
            <a:ext cx="398710" cy="612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99"/>
              </a:lnSpc>
            </a:pPr>
            <a:r>
              <a:rPr lang="en-US" sz="3125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1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696521" y="3226742"/>
            <a:ext cx="3544044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Loyal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696521" y="3763566"/>
            <a:ext cx="3600004" cy="548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15% - High value customers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6483846" y="4612332"/>
            <a:ext cx="10741075" cy="19050"/>
            <a:chOff x="0" y="0"/>
            <a:chExt cx="14321433" cy="254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321410" cy="25400"/>
            </a:xfrm>
            <a:custGeom>
              <a:avLst/>
              <a:gdLst/>
              <a:ahLst/>
              <a:cxnLst/>
              <a:rect r="r" b="b" t="t" l="l"/>
              <a:pathLst>
                <a:path h="25400" w="14321410">
                  <a:moveTo>
                    <a:pt x="0" y="12700"/>
                  </a:moveTo>
                  <a:cubicBezTo>
                    <a:pt x="0" y="5715"/>
                    <a:pt x="5715" y="0"/>
                    <a:pt x="12700" y="0"/>
                  </a:cubicBezTo>
                  <a:lnTo>
                    <a:pt x="14308710" y="0"/>
                  </a:lnTo>
                  <a:cubicBezTo>
                    <a:pt x="14315695" y="0"/>
                    <a:pt x="14321410" y="5715"/>
                    <a:pt x="14321410" y="12700"/>
                  </a:cubicBezTo>
                  <a:cubicBezTo>
                    <a:pt x="14321410" y="19685"/>
                    <a:pt x="14315695" y="25400"/>
                    <a:pt x="14308710" y="25400"/>
                  </a:cubicBezTo>
                  <a:lnTo>
                    <a:pt x="12700" y="25400"/>
                  </a:lnTo>
                  <a:cubicBezTo>
                    <a:pt x="5715" y="25400"/>
                    <a:pt x="0" y="19685"/>
                    <a:pt x="0" y="12700"/>
                  </a:cubicBezTo>
                  <a:close/>
                </a:path>
              </a:pathLst>
            </a:custGeom>
            <a:solidFill>
              <a:srgbClr val="DDD3BA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4" id="14"/>
          <p:cNvGrpSpPr>
            <a:grpSpLocks noChangeAspect="true"/>
          </p:cNvGrpSpPr>
          <p:nvPr/>
        </p:nvGrpSpPr>
        <p:grpSpPr>
          <a:xfrm rot="0">
            <a:off x="2377976" y="4666804"/>
            <a:ext cx="5380136" cy="1633686"/>
            <a:chOff x="0" y="0"/>
            <a:chExt cx="7173515" cy="2178248"/>
          </a:xfrm>
        </p:grpSpPr>
        <p:sp>
          <p:nvSpPr>
            <p:cNvPr name="Freeform 15" id="15" descr="preencoded.png"/>
            <p:cNvSpPr/>
            <p:nvPr/>
          </p:nvSpPr>
          <p:spPr>
            <a:xfrm flipH="false" flipV="false" rot="0">
              <a:off x="0" y="0"/>
              <a:ext cx="7173468" cy="2178304"/>
            </a:xfrm>
            <a:custGeom>
              <a:avLst/>
              <a:gdLst/>
              <a:ahLst/>
              <a:cxnLst/>
              <a:rect r="r" b="b" t="t" l="l"/>
              <a:pathLst>
                <a:path h="2178304" w="7173468">
                  <a:moveTo>
                    <a:pt x="0" y="0"/>
                  </a:moveTo>
                  <a:lnTo>
                    <a:pt x="7173468" y="0"/>
                  </a:lnTo>
                  <a:lnTo>
                    <a:pt x="7173468" y="2178304"/>
                  </a:lnTo>
                  <a:lnTo>
                    <a:pt x="0" y="21783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27" r="0" b="-124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4868615" y="5120134"/>
            <a:ext cx="398710" cy="612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99"/>
              </a:lnSpc>
            </a:pPr>
            <a:r>
              <a:rPr lang="en-US" sz="3125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2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041630" y="4931271"/>
            <a:ext cx="3141166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Returning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041630" y="5468094"/>
            <a:ext cx="3141166" cy="548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35% - Regular shoppers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7828955" y="6316861"/>
            <a:ext cx="9395966" cy="19050"/>
            <a:chOff x="0" y="0"/>
            <a:chExt cx="12527955" cy="254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2527915" cy="25400"/>
            </a:xfrm>
            <a:custGeom>
              <a:avLst/>
              <a:gdLst/>
              <a:ahLst/>
              <a:cxnLst/>
              <a:rect r="r" b="b" t="t" l="l"/>
              <a:pathLst>
                <a:path h="25400" w="12527915">
                  <a:moveTo>
                    <a:pt x="0" y="12700"/>
                  </a:moveTo>
                  <a:cubicBezTo>
                    <a:pt x="0" y="5715"/>
                    <a:pt x="5715" y="0"/>
                    <a:pt x="12700" y="0"/>
                  </a:cubicBezTo>
                  <a:lnTo>
                    <a:pt x="12515215" y="0"/>
                  </a:lnTo>
                  <a:cubicBezTo>
                    <a:pt x="12522200" y="0"/>
                    <a:pt x="12527915" y="5715"/>
                    <a:pt x="12527915" y="12700"/>
                  </a:cubicBezTo>
                  <a:cubicBezTo>
                    <a:pt x="12527915" y="19685"/>
                    <a:pt x="12522200" y="25400"/>
                    <a:pt x="12515215" y="25400"/>
                  </a:cubicBezTo>
                  <a:lnTo>
                    <a:pt x="12700" y="25400"/>
                  </a:lnTo>
                  <a:cubicBezTo>
                    <a:pt x="5715" y="25400"/>
                    <a:pt x="0" y="19685"/>
                    <a:pt x="0" y="12700"/>
                  </a:cubicBezTo>
                  <a:close/>
                </a:path>
              </a:pathLst>
            </a:custGeom>
            <a:solidFill>
              <a:srgbClr val="DDD3BA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1" id="21"/>
          <p:cNvGrpSpPr>
            <a:grpSpLocks noChangeAspect="true"/>
          </p:cNvGrpSpPr>
          <p:nvPr/>
        </p:nvGrpSpPr>
        <p:grpSpPr>
          <a:xfrm rot="0">
            <a:off x="1032868" y="6371332"/>
            <a:ext cx="8070205" cy="1633686"/>
            <a:chOff x="0" y="0"/>
            <a:chExt cx="10760273" cy="2178248"/>
          </a:xfrm>
        </p:grpSpPr>
        <p:sp>
          <p:nvSpPr>
            <p:cNvPr name="Freeform 22" id="22" descr="preencoded.png"/>
            <p:cNvSpPr/>
            <p:nvPr/>
          </p:nvSpPr>
          <p:spPr>
            <a:xfrm flipH="false" flipV="false" rot="0">
              <a:off x="0" y="0"/>
              <a:ext cx="10760329" cy="2178304"/>
            </a:xfrm>
            <a:custGeom>
              <a:avLst/>
              <a:gdLst/>
              <a:ahLst/>
              <a:cxnLst/>
              <a:rect r="r" b="b" t="t" l="l"/>
              <a:pathLst>
                <a:path h="2178304" w="10760329">
                  <a:moveTo>
                    <a:pt x="0" y="0"/>
                  </a:moveTo>
                  <a:lnTo>
                    <a:pt x="10760329" y="0"/>
                  </a:lnTo>
                  <a:lnTo>
                    <a:pt x="10760329" y="2178304"/>
                  </a:lnTo>
                  <a:lnTo>
                    <a:pt x="0" y="21783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156" r="0" b="-154"/>
              </a:stretch>
            </a:blip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4868466" y="6824662"/>
            <a:ext cx="398710" cy="612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99"/>
              </a:lnSpc>
            </a:pPr>
            <a:r>
              <a:rPr lang="en-US" sz="3125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3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386590" y="6635800"/>
            <a:ext cx="3178374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New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386590" y="7172622"/>
            <a:ext cx="3178374" cy="548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50% - First-time buyers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92238" y="8228708"/>
            <a:ext cx="16303526" cy="548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Focus on converting New to Returning, Returning to Loyal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DFA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0" y="0"/>
            <a:ext cx="6855520" cy="10287000"/>
            <a:chOff x="0" y="0"/>
            <a:chExt cx="9144000" cy="13720962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44000" cy="13720953"/>
            </a:xfrm>
            <a:custGeom>
              <a:avLst/>
              <a:gdLst/>
              <a:ahLst/>
              <a:cxnLst/>
              <a:rect r="r" b="b" t="t" l="l"/>
              <a:pathLst>
                <a:path h="13720953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20953"/>
                  </a:lnTo>
                  <a:lnTo>
                    <a:pt x="0" y="137209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8" t="0" r="-18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7543354" y="509885"/>
            <a:ext cx="7076034" cy="6404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12"/>
              </a:lnSpc>
            </a:pPr>
            <a:r>
              <a:rPr lang="en-US" sz="3812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Strategic Recommendations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7538591" y="1439168"/>
            <a:ext cx="10068817" cy="1939826"/>
            <a:chOff x="0" y="0"/>
            <a:chExt cx="13425090" cy="258643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6350" y="6350"/>
              <a:ext cx="13412344" cy="2573782"/>
            </a:xfrm>
            <a:custGeom>
              <a:avLst/>
              <a:gdLst/>
              <a:ahLst/>
              <a:cxnLst/>
              <a:rect r="r" b="b" t="t" l="l"/>
              <a:pathLst>
                <a:path h="2573782" w="13412344">
                  <a:moveTo>
                    <a:pt x="0" y="109728"/>
                  </a:moveTo>
                  <a:cubicBezTo>
                    <a:pt x="0" y="49149"/>
                    <a:pt x="49276" y="0"/>
                    <a:pt x="110109" y="0"/>
                  </a:cubicBezTo>
                  <a:lnTo>
                    <a:pt x="13302235" y="0"/>
                  </a:lnTo>
                  <a:cubicBezTo>
                    <a:pt x="13363068" y="0"/>
                    <a:pt x="13412344" y="49149"/>
                    <a:pt x="13412344" y="109728"/>
                  </a:cubicBezTo>
                  <a:lnTo>
                    <a:pt x="13412344" y="2464054"/>
                  </a:lnTo>
                  <a:cubicBezTo>
                    <a:pt x="13412344" y="2524633"/>
                    <a:pt x="13363068" y="2573782"/>
                    <a:pt x="13302235" y="2573782"/>
                  </a:cubicBezTo>
                  <a:lnTo>
                    <a:pt x="110109" y="2573782"/>
                  </a:lnTo>
                  <a:cubicBezTo>
                    <a:pt x="49276" y="2573782"/>
                    <a:pt x="0" y="2524633"/>
                    <a:pt x="0" y="2464054"/>
                  </a:cubicBezTo>
                  <a:close/>
                </a:path>
              </a:pathLst>
            </a:custGeom>
            <a:solidFill>
              <a:srgbClr val="F7EDD4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425044" cy="2586482"/>
            </a:xfrm>
            <a:custGeom>
              <a:avLst/>
              <a:gdLst/>
              <a:ahLst/>
              <a:cxnLst/>
              <a:rect r="r" b="b" t="t" l="l"/>
              <a:pathLst>
                <a:path h="2586482" w="13425044">
                  <a:moveTo>
                    <a:pt x="0" y="116078"/>
                  </a:moveTo>
                  <a:cubicBezTo>
                    <a:pt x="0" y="51943"/>
                    <a:pt x="52197" y="0"/>
                    <a:pt x="116459" y="0"/>
                  </a:cubicBezTo>
                  <a:lnTo>
                    <a:pt x="13308585" y="0"/>
                  </a:lnTo>
                  <a:lnTo>
                    <a:pt x="13308585" y="6350"/>
                  </a:lnTo>
                  <a:lnTo>
                    <a:pt x="13308585" y="0"/>
                  </a:lnTo>
                  <a:cubicBezTo>
                    <a:pt x="13372847" y="0"/>
                    <a:pt x="13425044" y="51943"/>
                    <a:pt x="13425044" y="116078"/>
                  </a:cubicBezTo>
                  <a:lnTo>
                    <a:pt x="13418694" y="116078"/>
                  </a:lnTo>
                  <a:lnTo>
                    <a:pt x="13425044" y="116078"/>
                  </a:lnTo>
                  <a:lnTo>
                    <a:pt x="13425044" y="2470404"/>
                  </a:lnTo>
                  <a:lnTo>
                    <a:pt x="13418694" y="2470404"/>
                  </a:lnTo>
                  <a:lnTo>
                    <a:pt x="13425044" y="2470404"/>
                  </a:lnTo>
                  <a:cubicBezTo>
                    <a:pt x="13425044" y="2534539"/>
                    <a:pt x="13372847" y="2586482"/>
                    <a:pt x="13308585" y="2586482"/>
                  </a:cubicBezTo>
                  <a:lnTo>
                    <a:pt x="13308585" y="2580132"/>
                  </a:lnTo>
                  <a:lnTo>
                    <a:pt x="13308585" y="2586482"/>
                  </a:lnTo>
                  <a:lnTo>
                    <a:pt x="116459" y="2586482"/>
                  </a:lnTo>
                  <a:lnTo>
                    <a:pt x="116459" y="2580132"/>
                  </a:lnTo>
                  <a:lnTo>
                    <a:pt x="116459" y="2586482"/>
                  </a:lnTo>
                  <a:cubicBezTo>
                    <a:pt x="52197" y="2586482"/>
                    <a:pt x="0" y="2534539"/>
                    <a:pt x="0" y="2470404"/>
                  </a:cubicBezTo>
                  <a:lnTo>
                    <a:pt x="0" y="116078"/>
                  </a:lnTo>
                  <a:lnTo>
                    <a:pt x="6350" y="116078"/>
                  </a:lnTo>
                  <a:lnTo>
                    <a:pt x="0" y="116078"/>
                  </a:lnTo>
                  <a:moveTo>
                    <a:pt x="12700" y="116078"/>
                  </a:moveTo>
                  <a:lnTo>
                    <a:pt x="12700" y="2470404"/>
                  </a:lnTo>
                  <a:lnTo>
                    <a:pt x="6350" y="2470404"/>
                  </a:lnTo>
                  <a:lnTo>
                    <a:pt x="12700" y="2470404"/>
                  </a:lnTo>
                  <a:cubicBezTo>
                    <a:pt x="12700" y="2527427"/>
                    <a:pt x="59182" y="2573782"/>
                    <a:pt x="116459" y="2573782"/>
                  </a:cubicBezTo>
                  <a:lnTo>
                    <a:pt x="13308585" y="2573782"/>
                  </a:lnTo>
                  <a:cubicBezTo>
                    <a:pt x="13365862" y="2573782"/>
                    <a:pt x="13412344" y="2527554"/>
                    <a:pt x="13412344" y="2470404"/>
                  </a:cubicBezTo>
                  <a:lnTo>
                    <a:pt x="13412344" y="116078"/>
                  </a:lnTo>
                  <a:cubicBezTo>
                    <a:pt x="13412344" y="59055"/>
                    <a:pt x="13365862" y="12700"/>
                    <a:pt x="13308585" y="12700"/>
                  </a:cubicBezTo>
                  <a:lnTo>
                    <a:pt x="116459" y="12700"/>
                  </a:lnTo>
                  <a:lnTo>
                    <a:pt x="116459" y="6350"/>
                  </a:lnTo>
                  <a:lnTo>
                    <a:pt x="116459" y="12700"/>
                  </a:lnTo>
                  <a:cubicBezTo>
                    <a:pt x="59182" y="12700"/>
                    <a:pt x="12700" y="58928"/>
                    <a:pt x="12700" y="116078"/>
                  </a:cubicBezTo>
                  <a:close/>
                </a:path>
              </a:pathLst>
            </a:custGeom>
            <a:solidFill>
              <a:srgbClr val="DDD3BA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7748588" y="1649165"/>
            <a:ext cx="587425" cy="587425"/>
            <a:chOff x="0" y="0"/>
            <a:chExt cx="783233" cy="78323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83209" cy="783209"/>
            </a:xfrm>
            <a:custGeom>
              <a:avLst/>
              <a:gdLst/>
              <a:ahLst/>
              <a:cxnLst/>
              <a:rect r="r" b="b" t="t" l="l"/>
              <a:pathLst>
                <a:path h="783209" w="783209">
                  <a:moveTo>
                    <a:pt x="0" y="391668"/>
                  </a:moveTo>
                  <a:cubicBezTo>
                    <a:pt x="0" y="175387"/>
                    <a:pt x="175387" y="0"/>
                    <a:pt x="391668" y="0"/>
                  </a:cubicBezTo>
                  <a:cubicBezTo>
                    <a:pt x="607949" y="0"/>
                    <a:pt x="783209" y="175387"/>
                    <a:pt x="783209" y="391668"/>
                  </a:cubicBezTo>
                  <a:cubicBezTo>
                    <a:pt x="783209" y="607949"/>
                    <a:pt x="607949" y="783209"/>
                    <a:pt x="391668" y="783209"/>
                  </a:cubicBezTo>
                  <a:cubicBezTo>
                    <a:pt x="175387" y="783209"/>
                    <a:pt x="0" y="607949"/>
                    <a:pt x="0" y="391668"/>
                  </a:cubicBezTo>
                  <a:close/>
                </a:path>
              </a:pathLst>
            </a:custGeom>
            <a:solidFill>
              <a:srgbClr val="B88E23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4" id="14"/>
          <p:cNvGrpSpPr>
            <a:grpSpLocks noChangeAspect="true"/>
          </p:cNvGrpSpPr>
          <p:nvPr/>
        </p:nvGrpSpPr>
        <p:grpSpPr>
          <a:xfrm rot="0">
            <a:off x="7910066" y="1777604"/>
            <a:ext cx="264319" cy="330399"/>
            <a:chOff x="0" y="0"/>
            <a:chExt cx="352425" cy="440532"/>
          </a:xfrm>
        </p:grpSpPr>
        <p:sp>
          <p:nvSpPr>
            <p:cNvPr name="Freeform 15" id="15" descr="preencoded.png"/>
            <p:cNvSpPr/>
            <p:nvPr/>
          </p:nvSpPr>
          <p:spPr>
            <a:xfrm flipH="false" flipV="false" rot="0">
              <a:off x="0" y="0"/>
              <a:ext cx="352425" cy="440563"/>
            </a:xfrm>
            <a:custGeom>
              <a:avLst/>
              <a:gdLst/>
              <a:ahLst/>
              <a:cxnLst/>
              <a:rect r="r" b="b" t="t" l="l"/>
              <a:pathLst>
                <a:path h="440563" w="352425">
                  <a:moveTo>
                    <a:pt x="0" y="0"/>
                  </a:moveTo>
                  <a:lnTo>
                    <a:pt x="352425" y="0"/>
                  </a:lnTo>
                  <a:lnTo>
                    <a:pt x="352425" y="440563"/>
                  </a:lnTo>
                  <a:lnTo>
                    <a:pt x="0" y="4405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7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7748588" y="2432297"/>
            <a:ext cx="2487365" cy="305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874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Boost Subscriptions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748588" y="2789039"/>
            <a:ext cx="9648825" cy="379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50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Promote exclusive benefits for subscribers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7538591" y="3565177"/>
            <a:ext cx="10068817" cy="1939826"/>
            <a:chOff x="0" y="0"/>
            <a:chExt cx="13425090" cy="258643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6350" y="6350"/>
              <a:ext cx="13412344" cy="2573782"/>
            </a:xfrm>
            <a:custGeom>
              <a:avLst/>
              <a:gdLst/>
              <a:ahLst/>
              <a:cxnLst/>
              <a:rect r="r" b="b" t="t" l="l"/>
              <a:pathLst>
                <a:path h="2573782" w="13412344">
                  <a:moveTo>
                    <a:pt x="0" y="109728"/>
                  </a:moveTo>
                  <a:cubicBezTo>
                    <a:pt x="0" y="49149"/>
                    <a:pt x="49276" y="0"/>
                    <a:pt x="110109" y="0"/>
                  </a:cubicBezTo>
                  <a:lnTo>
                    <a:pt x="13302235" y="0"/>
                  </a:lnTo>
                  <a:cubicBezTo>
                    <a:pt x="13363068" y="0"/>
                    <a:pt x="13412344" y="49149"/>
                    <a:pt x="13412344" y="109728"/>
                  </a:cubicBezTo>
                  <a:lnTo>
                    <a:pt x="13412344" y="2464054"/>
                  </a:lnTo>
                  <a:cubicBezTo>
                    <a:pt x="13412344" y="2524633"/>
                    <a:pt x="13363068" y="2573782"/>
                    <a:pt x="13302235" y="2573782"/>
                  </a:cubicBezTo>
                  <a:lnTo>
                    <a:pt x="110109" y="2573782"/>
                  </a:lnTo>
                  <a:cubicBezTo>
                    <a:pt x="49276" y="2573782"/>
                    <a:pt x="0" y="2524633"/>
                    <a:pt x="0" y="2464054"/>
                  </a:cubicBezTo>
                  <a:close/>
                </a:path>
              </a:pathLst>
            </a:custGeom>
            <a:solidFill>
              <a:srgbClr val="F7EDD4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3425044" cy="2586482"/>
            </a:xfrm>
            <a:custGeom>
              <a:avLst/>
              <a:gdLst/>
              <a:ahLst/>
              <a:cxnLst/>
              <a:rect r="r" b="b" t="t" l="l"/>
              <a:pathLst>
                <a:path h="2586482" w="13425044">
                  <a:moveTo>
                    <a:pt x="0" y="116078"/>
                  </a:moveTo>
                  <a:cubicBezTo>
                    <a:pt x="0" y="51943"/>
                    <a:pt x="52197" y="0"/>
                    <a:pt x="116459" y="0"/>
                  </a:cubicBezTo>
                  <a:lnTo>
                    <a:pt x="13308585" y="0"/>
                  </a:lnTo>
                  <a:lnTo>
                    <a:pt x="13308585" y="6350"/>
                  </a:lnTo>
                  <a:lnTo>
                    <a:pt x="13308585" y="0"/>
                  </a:lnTo>
                  <a:cubicBezTo>
                    <a:pt x="13372847" y="0"/>
                    <a:pt x="13425044" y="51943"/>
                    <a:pt x="13425044" y="116078"/>
                  </a:cubicBezTo>
                  <a:lnTo>
                    <a:pt x="13418694" y="116078"/>
                  </a:lnTo>
                  <a:lnTo>
                    <a:pt x="13425044" y="116078"/>
                  </a:lnTo>
                  <a:lnTo>
                    <a:pt x="13425044" y="2470404"/>
                  </a:lnTo>
                  <a:lnTo>
                    <a:pt x="13418694" y="2470404"/>
                  </a:lnTo>
                  <a:lnTo>
                    <a:pt x="13425044" y="2470404"/>
                  </a:lnTo>
                  <a:cubicBezTo>
                    <a:pt x="13425044" y="2534539"/>
                    <a:pt x="13372847" y="2586482"/>
                    <a:pt x="13308585" y="2586482"/>
                  </a:cubicBezTo>
                  <a:lnTo>
                    <a:pt x="13308585" y="2580132"/>
                  </a:lnTo>
                  <a:lnTo>
                    <a:pt x="13308585" y="2586482"/>
                  </a:lnTo>
                  <a:lnTo>
                    <a:pt x="116459" y="2586482"/>
                  </a:lnTo>
                  <a:lnTo>
                    <a:pt x="116459" y="2580132"/>
                  </a:lnTo>
                  <a:lnTo>
                    <a:pt x="116459" y="2586482"/>
                  </a:lnTo>
                  <a:cubicBezTo>
                    <a:pt x="52197" y="2586482"/>
                    <a:pt x="0" y="2534539"/>
                    <a:pt x="0" y="2470404"/>
                  </a:cubicBezTo>
                  <a:lnTo>
                    <a:pt x="0" y="116078"/>
                  </a:lnTo>
                  <a:lnTo>
                    <a:pt x="6350" y="116078"/>
                  </a:lnTo>
                  <a:lnTo>
                    <a:pt x="0" y="116078"/>
                  </a:lnTo>
                  <a:moveTo>
                    <a:pt x="12700" y="116078"/>
                  </a:moveTo>
                  <a:lnTo>
                    <a:pt x="12700" y="2470404"/>
                  </a:lnTo>
                  <a:lnTo>
                    <a:pt x="6350" y="2470404"/>
                  </a:lnTo>
                  <a:lnTo>
                    <a:pt x="12700" y="2470404"/>
                  </a:lnTo>
                  <a:cubicBezTo>
                    <a:pt x="12700" y="2527427"/>
                    <a:pt x="59182" y="2573782"/>
                    <a:pt x="116459" y="2573782"/>
                  </a:cubicBezTo>
                  <a:lnTo>
                    <a:pt x="13308585" y="2573782"/>
                  </a:lnTo>
                  <a:cubicBezTo>
                    <a:pt x="13365862" y="2573782"/>
                    <a:pt x="13412344" y="2527554"/>
                    <a:pt x="13412344" y="2470404"/>
                  </a:cubicBezTo>
                  <a:lnTo>
                    <a:pt x="13412344" y="116078"/>
                  </a:lnTo>
                  <a:cubicBezTo>
                    <a:pt x="13412344" y="59055"/>
                    <a:pt x="13365862" y="12700"/>
                    <a:pt x="13308585" y="12700"/>
                  </a:cubicBezTo>
                  <a:lnTo>
                    <a:pt x="116459" y="12700"/>
                  </a:lnTo>
                  <a:lnTo>
                    <a:pt x="116459" y="6350"/>
                  </a:lnTo>
                  <a:lnTo>
                    <a:pt x="116459" y="12700"/>
                  </a:lnTo>
                  <a:cubicBezTo>
                    <a:pt x="59182" y="12700"/>
                    <a:pt x="12700" y="58928"/>
                    <a:pt x="12700" y="116078"/>
                  </a:cubicBezTo>
                  <a:close/>
                </a:path>
              </a:pathLst>
            </a:custGeom>
            <a:solidFill>
              <a:srgbClr val="DDD3BA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7748588" y="3775174"/>
            <a:ext cx="587425" cy="587425"/>
            <a:chOff x="0" y="0"/>
            <a:chExt cx="783233" cy="783233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83209" cy="783209"/>
            </a:xfrm>
            <a:custGeom>
              <a:avLst/>
              <a:gdLst/>
              <a:ahLst/>
              <a:cxnLst/>
              <a:rect r="r" b="b" t="t" l="l"/>
              <a:pathLst>
                <a:path h="783209" w="783209">
                  <a:moveTo>
                    <a:pt x="0" y="391668"/>
                  </a:moveTo>
                  <a:cubicBezTo>
                    <a:pt x="0" y="175387"/>
                    <a:pt x="175387" y="0"/>
                    <a:pt x="391668" y="0"/>
                  </a:cubicBezTo>
                  <a:cubicBezTo>
                    <a:pt x="607949" y="0"/>
                    <a:pt x="783209" y="175387"/>
                    <a:pt x="783209" y="391668"/>
                  </a:cubicBezTo>
                  <a:cubicBezTo>
                    <a:pt x="783209" y="607949"/>
                    <a:pt x="607949" y="783209"/>
                    <a:pt x="391668" y="783209"/>
                  </a:cubicBezTo>
                  <a:cubicBezTo>
                    <a:pt x="175387" y="783209"/>
                    <a:pt x="0" y="607949"/>
                    <a:pt x="0" y="391668"/>
                  </a:cubicBezTo>
                  <a:close/>
                </a:path>
              </a:pathLst>
            </a:custGeom>
            <a:solidFill>
              <a:srgbClr val="B88E23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3" id="23"/>
          <p:cNvGrpSpPr>
            <a:grpSpLocks noChangeAspect="true"/>
          </p:cNvGrpSpPr>
          <p:nvPr/>
        </p:nvGrpSpPr>
        <p:grpSpPr>
          <a:xfrm rot="0">
            <a:off x="7910066" y="3903612"/>
            <a:ext cx="264319" cy="330399"/>
            <a:chOff x="0" y="0"/>
            <a:chExt cx="352425" cy="440532"/>
          </a:xfrm>
        </p:grpSpPr>
        <p:sp>
          <p:nvSpPr>
            <p:cNvPr name="Freeform 24" id="24" descr="preencoded.png"/>
            <p:cNvSpPr/>
            <p:nvPr/>
          </p:nvSpPr>
          <p:spPr>
            <a:xfrm flipH="false" flipV="false" rot="0">
              <a:off x="0" y="0"/>
              <a:ext cx="352425" cy="440563"/>
            </a:xfrm>
            <a:custGeom>
              <a:avLst/>
              <a:gdLst/>
              <a:ahLst/>
              <a:cxnLst/>
              <a:rect r="r" b="b" t="t" l="l"/>
              <a:pathLst>
                <a:path h="440563" w="352425">
                  <a:moveTo>
                    <a:pt x="0" y="0"/>
                  </a:moveTo>
                  <a:lnTo>
                    <a:pt x="352425" y="0"/>
                  </a:lnTo>
                  <a:lnTo>
                    <a:pt x="352425" y="440563"/>
                  </a:lnTo>
                  <a:lnTo>
                    <a:pt x="0" y="4405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7"/>
              </a:stretch>
            </a:blip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7748588" y="4558308"/>
            <a:ext cx="2447627" cy="305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874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Loyalty Programs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748588" y="4915049"/>
            <a:ext cx="9648825" cy="379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50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Reward repeat buyers to increase retention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7538591" y="5691188"/>
            <a:ext cx="10068817" cy="1939826"/>
            <a:chOff x="0" y="0"/>
            <a:chExt cx="13425090" cy="2586435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6350" y="6350"/>
              <a:ext cx="13412344" cy="2573782"/>
            </a:xfrm>
            <a:custGeom>
              <a:avLst/>
              <a:gdLst/>
              <a:ahLst/>
              <a:cxnLst/>
              <a:rect r="r" b="b" t="t" l="l"/>
              <a:pathLst>
                <a:path h="2573782" w="13412344">
                  <a:moveTo>
                    <a:pt x="0" y="109728"/>
                  </a:moveTo>
                  <a:cubicBezTo>
                    <a:pt x="0" y="49149"/>
                    <a:pt x="49276" y="0"/>
                    <a:pt x="110109" y="0"/>
                  </a:cubicBezTo>
                  <a:lnTo>
                    <a:pt x="13302235" y="0"/>
                  </a:lnTo>
                  <a:cubicBezTo>
                    <a:pt x="13363068" y="0"/>
                    <a:pt x="13412344" y="49149"/>
                    <a:pt x="13412344" y="109728"/>
                  </a:cubicBezTo>
                  <a:lnTo>
                    <a:pt x="13412344" y="2464054"/>
                  </a:lnTo>
                  <a:cubicBezTo>
                    <a:pt x="13412344" y="2524633"/>
                    <a:pt x="13363068" y="2573782"/>
                    <a:pt x="13302235" y="2573782"/>
                  </a:cubicBezTo>
                  <a:lnTo>
                    <a:pt x="110109" y="2573782"/>
                  </a:lnTo>
                  <a:cubicBezTo>
                    <a:pt x="49276" y="2573782"/>
                    <a:pt x="0" y="2524633"/>
                    <a:pt x="0" y="2464054"/>
                  </a:cubicBezTo>
                  <a:close/>
                </a:path>
              </a:pathLst>
            </a:custGeom>
            <a:solidFill>
              <a:srgbClr val="F7EDD4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3425044" cy="2586482"/>
            </a:xfrm>
            <a:custGeom>
              <a:avLst/>
              <a:gdLst/>
              <a:ahLst/>
              <a:cxnLst/>
              <a:rect r="r" b="b" t="t" l="l"/>
              <a:pathLst>
                <a:path h="2586482" w="13425044">
                  <a:moveTo>
                    <a:pt x="0" y="116078"/>
                  </a:moveTo>
                  <a:cubicBezTo>
                    <a:pt x="0" y="51943"/>
                    <a:pt x="52197" y="0"/>
                    <a:pt x="116459" y="0"/>
                  </a:cubicBezTo>
                  <a:lnTo>
                    <a:pt x="13308585" y="0"/>
                  </a:lnTo>
                  <a:lnTo>
                    <a:pt x="13308585" y="6350"/>
                  </a:lnTo>
                  <a:lnTo>
                    <a:pt x="13308585" y="0"/>
                  </a:lnTo>
                  <a:cubicBezTo>
                    <a:pt x="13372847" y="0"/>
                    <a:pt x="13425044" y="51943"/>
                    <a:pt x="13425044" y="116078"/>
                  </a:cubicBezTo>
                  <a:lnTo>
                    <a:pt x="13418694" y="116078"/>
                  </a:lnTo>
                  <a:lnTo>
                    <a:pt x="13425044" y="116078"/>
                  </a:lnTo>
                  <a:lnTo>
                    <a:pt x="13425044" y="2470404"/>
                  </a:lnTo>
                  <a:lnTo>
                    <a:pt x="13418694" y="2470404"/>
                  </a:lnTo>
                  <a:lnTo>
                    <a:pt x="13425044" y="2470404"/>
                  </a:lnTo>
                  <a:cubicBezTo>
                    <a:pt x="13425044" y="2534539"/>
                    <a:pt x="13372847" y="2586482"/>
                    <a:pt x="13308585" y="2586482"/>
                  </a:cubicBezTo>
                  <a:lnTo>
                    <a:pt x="13308585" y="2580132"/>
                  </a:lnTo>
                  <a:lnTo>
                    <a:pt x="13308585" y="2586482"/>
                  </a:lnTo>
                  <a:lnTo>
                    <a:pt x="116459" y="2586482"/>
                  </a:lnTo>
                  <a:lnTo>
                    <a:pt x="116459" y="2580132"/>
                  </a:lnTo>
                  <a:lnTo>
                    <a:pt x="116459" y="2586482"/>
                  </a:lnTo>
                  <a:cubicBezTo>
                    <a:pt x="52197" y="2586482"/>
                    <a:pt x="0" y="2534539"/>
                    <a:pt x="0" y="2470404"/>
                  </a:cubicBezTo>
                  <a:lnTo>
                    <a:pt x="0" y="116078"/>
                  </a:lnTo>
                  <a:lnTo>
                    <a:pt x="6350" y="116078"/>
                  </a:lnTo>
                  <a:lnTo>
                    <a:pt x="0" y="116078"/>
                  </a:lnTo>
                  <a:moveTo>
                    <a:pt x="12700" y="116078"/>
                  </a:moveTo>
                  <a:lnTo>
                    <a:pt x="12700" y="2470404"/>
                  </a:lnTo>
                  <a:lnTo>
                    <a:pt x="6350" y="2470404"/>
                  </a:lnTo>
                  <a:lnTo>
                    <a:pt x="12700" y="2470404"/>
                  </a:lnTo>
                  <a:cubicBezTo>
                    <a:pt x="12700" y="2527427"/>
                    <a:pt x="59182" y="2573782"/>
                    <a:pt x="116459" y="2573782"/>
                  </a:cubicBezTo>
                  <a:lnTo>
                    <a:pt x="13308585" y="2573782"/>
                  </a:lnTo>
                  <a:cubicBezTo>
                    <a:pt x="13365862" y="2573782"/>
                    <a:pt x="13412344" y="2527554"/>
                    <a:pt x="13412344" y="2470404"/>
                  </a:cubicBezTo>
                  <a:lnTo>
                    <a:pt x="13412344" y="116078"/>
                  </a:lnTo>
                  <a:cubicBezTo>
                    <a:pt x="13412344" y="59055"/>
                    <a:pt x="13365862" y="12700"/>
                    <a:pt x="13308585" y="12700"/>
                  </a:cubicBezTo>
                  <a:lnTo>
                    <a:pt x="116459" y="12700"/>
                  </a:lnTo>
                  <a:lnTo>
                    <a:pt x="116459" y="6350"/>
                  </a:lnTo>
                  <a:lnTo>
                    <a:pt x="116459" y="12700"/>
                  </a:lnTo>
                  <a:cubicBezTo>
                    <a:pt x="59182" y="12700"/>
                    <a:pt x="12700" y="58928"/>
                    <a:pt x="12700" y="116078"/>
                  </a:cubicBezTo>
                  <a:close/>
                </a:path>
              </a:pathLst>
            </a:custGeom>
            <a:solidFill>
              <a:srgbClr val="DDD3BA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7748588" y="5901184"/>
            <a:ext cx="587425" cy="587425"/>
            <a:chOff x="0" y="0"/>
            <a:chExt cx="783233" cy="783233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83209" cy="783209"/>
            </a:xfrm>
            <a:custGeom>
              <a:avLst/>
              <a:gdLst/>
              <a:ahLst/>
              <a:cxnLst/>
              <a:rect r="r" b="b" t="t" l="l"/>
              <a:pathLst>
                <a:path h="783209" w="783209">
                  <a:moveTo>
                    <a:pt x="0" y="391668"/>
                  </a:moveTo>
                  <a:cubicBezTo>
                    <a:pt x="0" y="175387"/>
                    <a:pt x="175387" y="0"/>
                    <a:pt x="391668" y="0"/>
                  </a:cubicBezTo>
                  <a:cubicBezTo>
                    <a:pt x="607949" y="0"/>
                    <a:pt x="783209" y="175387"/>
                    <a:pt x="783209" y="391668"/>
                  </a:cubicBezTo>
                  <a:cubicBezTo>
                    <a:pt x="783209" y="607949"/>
                    <a:pt x="607949" y="783209"/>
                    <a:pt x="391668" y="783209"/>
                  </a:cubicBezTo>
                  <a:cubicBezTo>
                    <a:pt x="175387" y="783209"/>
                    <a:pt x="0" y="607949"/>
                    <a:pt x="0" y="391668"/>
                  </a:cubicBezTo>
                  <a:close/>
                </a:path>
              </a:pathLst>
            </a:custGeom>
            <a:solidFill>
              <a:srgbClr val="B88E23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32" id="32"/>
          <p:cNvGrpSpPr>
            <a:grpSpLocks noChangeAspect="true"/>
          </p:cNvGrpSpPr>
          <p:nvPr/>
        </p:nvGrpSpPr>
        <p:grpSpPr>
          <a:xfrm rot="0">
            <a:off x="7910066" y="6029622"/>
            <a:ext cx="264319" cy="330399"/>
            <a:chOff x="0" y="0"/>
            <a:chExt cx="352425" cy="440532"/>
          </a:xfrm>
        </p:grpSpPr>
        <p:sp>
          <p:nvSpPr>
            <p:cNvPr name="Freeform 33" id="33" descr="preencoded.png"/>
            <p:cNvSpPr/>
            <p:nvPr/>
          </p:nvSpPr>
          <p:spPr>
            <a:xfrm flipH="false" flipV="false" rot="0">
              <a:off x="0" y="0"/>
              <a:ext cx="352425" cy="440563"/>
            </a:xfrm>
            <a:custGeom>
              <a:avLst/>
              <a:gdLst/>
              <a:ahLst/>
              <a:cxnLst/>
              <a:rect r="r" b="b" t="t" l="l"/>
              <a:pathLst>
                <a:path h="440563" w="352425">
                  <a:moveTo>
                    <a:pt x="0" y="0"/>
                  </a:moveTo>
                  <a:lnTo>
                    <a:pt x="352425" y="0"/>
                  </a:lnTo>
                  <a:lnTo>
                    <a:pt x="352425" y="440563"/>
                  </a:lnTo>
                  <a:lnTo>
                    <a:pt x="0" y="4405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7"/>
              </a:stretch>
            </a:blip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7748588" y="6684317"/>
            <a:ext cx="2468761" cy="305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874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Targeted Marketing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7748588" y="7041059"/>
            <a:ext cx="9648825" cy="379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50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Focus on high-revenue segments and express users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7538591" y="7817197"/>
            <a:ext cx="10068817" cy="1939826"/>
            <a:chOff x="0" y="0"/>
            <a:chExt cx="13425090" cy="2586435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6350" y="6350"/>
              <a:ext cx="13412344" cy="2573782"/>
            </a:xfrm>
            <a:custGeom>
              <a:avLst/>
              <a:gdLst/>
              <a:ahLst/>
              <a:cxnLst/>
              <a:rect r="r" b="b" t="t" l="l"/>
              <a:pathLst>
                <a:path h="2573782" w="13412344">
                  <a:moveTo>
                    <a:pt x="0" y="109728"/>
                  </a:moveTo>
                  <a:cubicBezTo>
                    <a:pt x="0" y="49149"/>
                    <a:pt x="49276" y="0"/>
                    <a:pt x="110109" y="0"/>
                  </a:cubicBezTo>
                  <a:lnTo>
                    <a:pt x="13302235" y="0"/>
                  </a:lnTo>
                  <a:cubicBezTo>
                    <a:pt x="13363068" y="0"/>
                    <a:pt x="13412344" y="49149"/>
                    <a:pt x="13412344" y="109728"/>
                  </a:cubicBezTo>
                  <a:lnTo>
                    <a:pt x="13412344" y="2464054"/>
                  </a:lnTo>
                  <a:cubicBezTo>
                    <a:pt x="13412344" y="2524633"/>
                    <a:pt x="13363068" y="2573782"/>
                    <a:pt x="13302235" y="2573782"/>
                  </a:cubicBezTo>
                  <a:lnTo>
                    <a:pt x="110109" y="2573782"/>
                  </a:lnTo>
                  <a:cubicBezTo>
                    <a:pt x="49276" y="2573782"/>
                    <a:pt x="0" y="2524633"/>
                    <a:pt x="0" y="2464054"/>
                  </a:cubicBezTo>
                  <a:close/>
                </a:path>
              </a:pathLst>
            </a:custGeom>
            <a:solidFill>
              <a:srgbClr val="F7EDD4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3425044" cy="2586482"/>
            </a:xfrm>
            <a:custGeom>
              <a:avLst/>
              <a:gdLst/>
              <a:ahLst/>
              <a:cxnLst/>
              <a:rect r="r" b="b" t="t" l="l"/>
              <a:pathLst>
                <a:path h="2586482" w="13425044">
                  <a:moveTo>
                    <a:pt x="0" y="116078"/>
                  </a:moveTo>
                  <a:cubicBezTo>
                    <a:pt x="0" y="51943"/>
                    <a:pt x="52197" y="0"/>
                    <a:pt x="116459" y="0"/>
                  </a:cubicBezTo>
                  <a:lnTo>
                    <a:pt x="13308585" y="0"/>
                  </a:lnTo>
                  <a:lnTo>
                    <a:pt x="13308585" y="6350"/>
                  </a:lnTo>
                  <a:lnTo>
                    <a:pt x="13308585" y="0"/>
                  </a:lnTo>
                  <a:cubicBezTo>
                    <a:pt x="13372847" y="0"/>
                    <a:pt x="13425044" y="51943"/>
                    <a:pt x="13425044" y="116078"/>
                  </a:cubicBezTo>
                  <a:lnTo>
                    <a:pt x="13418694" y="116078"/>
                  </a:lnTo>
                  <a:lnTo>
                    <a:pt x="13425044" y="116078"/>
                  </a:lnTo>
                  <a:lnTo>
                    <a:pt x="13425044" y="2470404"/>
                  </a:lnTo>
                  <a:lnTo>
                    <a:pt x="13418694" y="2470404"/>
                  </a:lnTo>
                  <a:lnTo>
                    <a:pt x="13425044" y="2470404"/>
                  </a:lnTo>
                  <a:cubicBezTo>
                    <a:pt x="13425044" y="2534539"/>
                    <a:pt x="13372847" y="2586482"/>
                    <a:pt x="13308585" y="2586482"/>
                  </a:cubicBezTo>
                  <a:lnTo>
                    <a:pt x="13308585" y="2580132"/>
                  </a:lnTo>
                  <a:lnTo>
                    <a:pt x="13308585" y="2586482"/>
                  </a:lnTo>
                  <a:lnTo>
                    <a:pt x="116459" y="2586482"/>
                  </a:lnTo>
                  <a:lnTo>
                    <a:pt x="116459" y="2580132"/>
                  </a:lnTo>
                  <a:lnTo>
                    <a:pt x="116459" y="2586482"/>
                  </a:lnTo>
                  <a:cubicBezTo>
                    <a:pt x="52197" y="2586482"/>
                    <a:pt x="0" y="2534539"/>
                    <a:pt x="0" y="2470404"/>
                  </a:cubicBezTo>
                  <a:lnTo>
                    <a:pt x="0" y="116078"/>
                  </a:lnTo>
                  <a:lnTo>
                    <a:pt x="6350" y="116078"/>
                  </a:lnTo>
                  <a:lnTo>
                    <a:pt x="0" y="116078"/>
                  </a:lnTo>
                  <a:moveTo>
                    <a:pt x="12700" y="116078"/>
                  </a:moveTo>
                  <a:lnTo>
                    <a:pt x="12700" y="2470404"/>
                  </a:lnTo>
                  <a:lnTo>
                    <a:pt x="6350" y="2470404"/>
                  </a:lnTo>
                  <a:lnTo>
                    <a:pt x="12700" y="2470404"/>
                  </a:lnTo>
                  <a:cubicBezTo>
                    <a:pt x="12700" y="2527427"/>
                    <a:pt x="59182" y="2573782"/>
                    <a:pt x="116459" y="2573782"/>
                  </a:cubicBezTo>
                  <a:lnTo>
                    <a:pt x="13308585" y="2573782"/>
                  </a:lnTo>
                  <a:cubicBezTo>
                    <a:pt x="13365862" y="2573782"/>
                    <a:pt x="13412344" y="2527554"/>
                    <a:pt x="13412344" y="2470404"/>
                  </a:cubicBezTo>
                  <a:lnTo>
                    <a:pt x="13412344" y="116078"/>
                  </a:lnTo>
                  <a:cubicBezTo>
                    <a:pt x="13412344" y="59055"/>
                    <a:pt x="13365862" y="12700"/>
                    <a:pt x="13308585" y="12700"/>
                  </a:cubicBezTo>
                  <a:lnTo>
                    <a:pt x="116459" y="12700"/>
                  </a:lnTo>
                  <a:lnTo>
                    <a:pt x="116459" y="6350"/>
                  </a:lnTo>
                  <a:lnTo>
                    <a:pt x="116459" y="12700"/>
                  </a:lnTo>
                  <a:cubicBezTo>
                    <a:pt x="59182" y="12700"/>
                    <a:pt x="12700" y="58928"/>
                    <a:pt x="12700" y="116078"/>
                  </a:cubicBezTo>
                  <a:close/>
                </a:path>
              </a:pathLst>
            </a:custGeom>
            <a:solidFill>
              <a:srgbClr val="DDD3BA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7748588" y="8027194"/>
            <a:ext cx="587425" cy="587425"/>
            <a:chOff x="0" y="0"/>
            <a:chExt cx="783233" cy="783233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783209" cy="783209"/>
            </a:xfrm>
            <a:custGeom>
              <a:avLst/>
              <a:gdLst/>
              <a:ahLst/>
              <a:cxnLst/>
              <a:rect r="r" b="b" t="t" l="l"/>
              <a:pathLst>
                <a:path h="783209" w="783209">
                  <a:moveTo>
                    <a:pt x="0" y="391668"/>
                  </a:moveTo>
                  <a:cubicBezTo>
                    <a:pt x="0" y="175387"/>
                    <a:pt x="175387" y="0"/>
                    <a:pt x="391668" y="0"/>
                  </a:cubicBezTo>
                  <a:cubicBezTo>
                    <a:pt x="607949" y="0"/>
                    <a:pt x="783209" y="175387"/>
                    <a:pt x="783209" y="391668"/>
                  </a:cubicBezTo>
                  <a:cubicBezTo>
                    <a:pt x="783209" y="607949"/>
                    <a:pt x="607949" y="783209"/>
                    <a:pt x="391668" y="783209"/>
                  </a:cubicBezTo>
                  <a:cubicBezTo>
                    <a:pt x="175387" y="783209"/>
                    <a:pt x="0" y="607949"/>
                    <a:pt x="0" y="391668"/>
                  </a:cubicBezTo>
                  <a:close/>
                </a:path>
              </a:pathLst>
            </a:custGeom>
            <a:solidFill>
              <a:srgbClr val="B88E23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1" id="41"/>
          <p:cNvGrpSpPr>
            <a:grpSpLocks noChangeAspect="true"/>
          </p:cNvGrpSpPr>
          <p:nvPr/>
        </p:nvGrpSpPr>
        <p:grpSpPr>
          <a:xfrm rot="0">
            <a:off x="7910066" y="8155632"/>
            <a:ext cx="264319" cy="330399"/>
            <a:chOff x="0" y="0"/>
            <a:chExt cx="352425" cy="440532"/>
          </a:xfrm>
        </p:grpSpPr>
        <p:sp>
          <p:nvSpPr>
            <p:cNvPr name="Freeform 42" id="42" descr="preencoded.png"/>
            <p:cNvSpPr/>
            <p:nvPr/>
          </p:nvSpPr>
          <p:spPr>
            <a:xfrm flipH="false" flipV="false" rot="0">
              <a:off x="0" y="0"/>
              <a:ext cx="352425" cy="440563"/>
            </a:xfrm>
            <a:custGeom>
              <a:avLst/>
              <a:gdLst/>
              <a:ahLst/>
              <a:cxnLst/>
              <a:rect r="r" b="b" t="t" l="l"/>
              <a:pathLst>
                <a:path h="440563" w="352425">
                  <a:moveTo>
                    <a:pt x="0" y="0"/>
                  </a:moveTo>
                  <a:lnTo>
                    <a:pt x="352425" y="0"/>
                  </a:lnTo>
                  <a:lnTo>
                    <a:pt x="352425" y="440563"/>
                  </a:lnTo>
                  <a:lnTo>
                    <a:pt x="0" y="4405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7"/>
              </a:stretch>
            </a:blipFill>
          </p:spPr>
        </p:sp>
      </p:grpSp>
      <p:sp>
        <p:nvSpPr>
          <p:cNvPr name="TextBox 43" id="43"/>
          <p:cNvSpPr txBox="true"/>
          <p:nvPr/>
        </p:nvSpPr>
        <p:spPr>
          <a:xfrm rot="0">
            <a:off x="7748588" y="8810327"/>
            <a:ext cx="2483495" cy="305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874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Product Positioning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7748588" y="9167069"/>
            <a:ext cx="9648825" cy="379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50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Highlight top-rated products in campaigns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F7ED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382220" y="4274503"/>
            <a:ext cx="7523559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THANK YOU 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DAG6cYXuRxk</dc:identifier>
  <dcterms:modified xsi:type="dcterms:W3CDTF">2011-08-01T06:04:30Z</dcterms:modified>
  <cp:revision>1</cp:revision>
  <dc:title>Customer-Shopping-Behavior-Analysis.pptx</dc:title>
</cp:coreProperties>
</file>